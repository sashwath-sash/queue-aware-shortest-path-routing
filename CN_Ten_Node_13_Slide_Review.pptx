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Queue-aware shortest-path routing</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01</a:t>
            </a:r>
          </a:p>
        </p:txBody>
      </p:sp>
      <p:sp>
        <p:nvSpPr>
          <p:cNvPr id="5" name="TextBox 4"/>
          <p:cNvSpPr txBox="1"/>
          <p:nvPr/>
        </p:nvSpPr>
        <p:spPr>
          <a:xfrm>
            <a:off x="713232" y="1298448"/>
            <a:ext cx="6400800" cy="1828800"/>
          </a:xfrm>
          <a:prstGeom prst="rect">
            <a:avLst/>
          </a:prstGeom>
          <a:noFill/>
        </p:spPr>
        <p:txBody>
          <a:bodyPr wrap="square">
            <a:spAutoFit/>
          </a:bodyPr>
          <a:lstStyle/>
          <a:p>
            <a:pPr>
              <a:spcAft>
                <a:spcPts val="700"/>
              </a:spcAft>
              <a:defRPr sz="2700" b="1">
                <a:solidFill>
                  <a:srgbClr val="132D45"/>
                </a:solidFill>
                <a:latin typeface="Calibri"/>
              </a:defRPr>
            </a:pPr>
            <a:r>
              <a:t>A ten-node packet simulation comparing fixed-weight Dijkstra with a queue-aware extension.</a:t>
            </a:r>
          </a:p>
        </p:txBody>
      </p:sp>
      <p:sp>
        <p:nvSpPr>
          <p:cNvPr id="6" name="TextBox 5"/>
          <p:cNvSpPr txBox="1"/>
          <p:nvPr/>
        </p:nvSpPr>
        <p:spPr>
          <a:xfrm>
            <a:off x="731520" y="3520440"/>
            <a:ext cx="5212080" cy="384048"/>
          </a:xfrm>
          <a:prstGeom prst="rect">
            <a:avLst/>
          </a:prstGeom>
          <a:noFill/>
        </p:spPr>
        <p:txBody>
          <a:bodyPr wrap="square">
            <a:spAutoFit/>
          </a:bodyPr>
          <a:lstStyle/>
          <a:p>
            <a:pPr>
              <a:spcAft>
                <a:spcPts val="700"/>
              </a:spcAft>
              <a:defRPr sz="1800" b="1">
                <a:solidFill>
                  <a:srgbClr val="0E7782"/>
                </a:solidFill>
                <a:latin typeface="Calibri"/>
              </a:defRPr>
            </a:pPr>
            <a:r>
              <a:t>Question</a:t>
            </a:r>
          </a:p>
        </p:txBody>
      </p:sp>
      <p:sp>
        <p:nvSpPr>
          <p:cNvPr id="7" name="TextBox 6"/>
          <p:cNvSpPr txBox="1"/>
          <p:nvPr/>
        </p:nvSpPr>
        <p:spPr>
          <a:xfrm>
            <a:off x="731520" y="3959352"/>
            <a:ext cx="5212080" cy="1664207"/>
          </a:xfrm>
          <a:prstGeom prst="rect">
            <a:avLst/>
          </a:prstGeom>
          <a:noFill/>
        </p:spPr>
        <p:txBody>
          <a:bodyPr wrap="square">
            <a:spAutoFit/>
          </a:bodyPr>
          <a:lstStyle/>
          <a:p>
            <a:pPr>
              <a:spcAft>
                <a:spcPts val="700"/>
              </a:spcAft>
              <a:defRPr sz="1700" b="0">
                <a:solidFill>
                  <a:srgbClr val="2A3641"/>
                </a:solidFill>
                <a:latin typeface="Calibri"/>
              </a:defRPr>
            </a:pPr>
            <a:r>
              <a:t>Can a route that reacts to waiting queues deliver more packets when the fixed shortest path reaches its capacity limit?</a:t>
            </a:r>
          </a:p>
        </p:txBody>
      </p:sp>
      <p:sp>
        <p:nvSpPr>
          <p:cNvPr id="8" name="TextBox 7"/>
          <p:cNvSpPr txBox="1"/>
          <p:nvPr/>
        </p:nvSpPr>
        <p:spPr>
          <a:xfrm>
            <a:off x="6172200" y="3520440"/>
            <a:ext cx="5212080" cy="384048"/>
          </a:xfrm>
          <a:prstGeom prst="rect">
            <a:avLst/>
          </a:prstGeom>
          <a:noFill/>
        </p:spPr>
        <p:txBody>
          <a:bodyPr wrap="square">
            <a:spAutoFit/>
          </a:bodyPr>
          <a:lstStyle/>
          <a:p>
            <a:pPr>
              <a:spcAft>
                <a:spcPts val="700"/>
              </a:spcAft>
              <a:defRPr sz="1800" b="1">
                <a:solidFill>
                  <a:srgbClr val="0E7782"/>
                </a:solidFill>
                <a:latin typeface="Calibri"/>
              </a:defRPr>
            </a:pPr>
            <a:r>
              <a:t>Answer from this experiment</a:t>
            </a:r>
          </a:p>
        </p:txBody>
      </p:sp>
      <p:sp>
        <p:nvSpPr>
          <p:cNvPr id="9" name="TextBox 8"/>
          <p:cNvSpPr txBox="1"/>
          <p:nvPr/>
        </p:nvSpPr>
        <p:spPr>
          <a:xfrm>
            <a:off x="6172200" y="3959352"/>
            <a:ext cx="5212080" cy="1664207"/>
          </a:xfrm>
          <a:prstGeom prst="rect">
            <a:avLst/>
          </a:prstGeom>
          <a:noFill/>
        </p:spPr>
        <p:txBody>
          <a:bodyPr wrap="square">
            <a:spAutoFit/>
          </a:bodyPr>
          <a:lstStyle/>
          <a:p>
            <a:pPr>
              <a:spcAft>
                <a:spcPts val="700"/>
              </a:spcAft>
              <a:defRPr sz="1700" b="0">
                <a:solidFill>
                  <a:srgbClr val="2A3641"/>
                </a:solidFill>
                <a:latin typeface="Calibri"/>
              </a:defRPr>
            </a:pPr>
            <a:r>
              <a:t>Yes, after congestion begins in the tested topology. The benefit is conditional: at light load both methods match, and at heavy load the proposed method also drops packets.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Existing method and the gap it leaves</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02</a:t>
            </a:r>
          </a:p>
        </p:txBody>
      </p:sp>
      <p:sp>
        <p:nvSpPr>
          <p:cNvPr id="5" name="TextBox 4"/>
          <p:cNvSpPr txBox="1"/>
          <p:nvPr/>
        </p:nvSpPr>
        <p:spPr>
          <a:xfrm>
            <a:off x="640080" y="1234440"/>
            <a:ext cx="5303520" cy="384048"/>
          </a:xfrm>
          <a:prstGeom prst="rect">
            <a:avLst/>
          </a:prstGeom>
          <a:noFill/>
        </p:spPr>
        <p:txBody>
          <a:bodyPr wrap="square">
            <a:spAutoFit/>
          </a:bodyPr>
          <a:lstStyle/>
          <a:p>
            <a:pPr>
              <a:spcAft>
                <a:spcPts val="700"/>
              </a:spcAft>
              <a:defRPr sz="1800" b="1">
                <a:solidFill>
                  <a:srgbClr val="0E7782"/>
                </a:solidFill>
                <a:latin typeface="Calibri"/>
              </a:defRPr>
            </a:pPr>
            <a:r>
              <a:t>Fixed-weight Dijkstra</a:t>
            </a:r>
          </a:p>
        </p:txBody>
      </p:sp>
      <p:sp>
        <p:nvSpPr>
          <p:cNvPr id="6" name="TextBox 5"/>
          <p:cNvSpPr txBox="1"/>
          <p:nvPr/>
        </p:nvSpPr>
        <p:spPr>
          <a:xfrm>
            <a:off x="640080" y="1673352"/>
            <a:ext cx="5303520" cy="3858768"/>
          </a:xfrm>
          <a:prstGeom prst="rect">
            <a:avLst/>
          </a:prstGeom>
          <a:noFill/>
        </p:spPr>
        <p:txBody>
          <a:bodyPr wrap="square">
            <a:spAutoFit/>
          </a:bodyPr>
          <a:lstStyle/>
          <a:p>
            <a:pPr>
              <a:spcAft>
                <a:spcPts val="700"/>
              </a:spcAft>
              <a:defRPr sz="1700" b="0">
                <a:solidFill>
                  <a:srgbClr val="2A3641"/>
                </a:solidFill>
                <a:latin typeface="Calibri"/>
              </a:defRPr>
            </a:pPr>
            <a:r>
              <a:t>The baseline uses propagation delay as each nonnegative link weight. It always picks S-A-D-G-T: total cost 4, lower than the middle path at 5 and lower path at 6. This is a correct shortest path for those fixed weights, even if its capacity-1 links become congested.</a:t>
            </a:r>
          </a:p>
        </p:txBody>
      </p:sp>
      <p:sp>
        <p:nvSpPr>
          <p:cNvPr id="7" name="TextBox 6"/>
          <p:cNvSpPr txBox="1"/>
          <p:nvPr/>
        </p:nvSpPr>
        <p:spPr>
          <a:xfrm>
            <a:off x="6172200" y="1234440"/>
            <a:ext cx="5303520" cy="384048"/>
          </a:xfrm>
          <a:prstGeom prst="rect">
            <a:avLst/>
          </a:prstGeom>
          <a:noFill/>
        </p:spPr>
        <p:txBody>
          <a:bodyPr wrap="square">
            <a:spAutoFit/>
          </a:bodyPr>
          <a:lstStyle/>
          <a:p>
            <a:pPr>
              <a:spcAft>
                <a:spcPts val="700"/>
              </a:spcAft>
              <a:defRPr sz="1800" b="1">
                <a:solidFill>
                  <a:srgbClr val="0E7782"/>
                </a:solidFill>
                <a:latin typeface="Calibri"/>
              </a:defRPr>
            </a:pPr>
            <a:r>
              <a:t>Why queue information matters</a:t>
            </a:r>
          </a:p>
        </p:txBody>
      </p:sp>
      <p:sp>
        <p:nvSpPr>
          <p:cNvPr id="8" name="TextBox 7"/>
          <p:cNvSpPr txBox="1"/>
          <p:nvPr/>
        </p:nvSpPr>
        <p:spPr>
          <a:xfrm>
            <a:off x="6172200" y="1673352"/>
            <a:ext cx="5303520" cy="3858768"/>
          </a:xfrm>
          <a:prstGeom prst="rect">
            <a:avLst/>
          </a:prstGeom>
          <a:noFill/>
        </p:spPr>
        <p:txBody>
          <a:bodyPr wrap="square">
            <a:spAutoFit/>
          </a:bodyPr>
          <a:lstStyle/>
          <a:p>
            <a:pPr>
              <a:spcAft>
                <a:spcPts val="700"/>
              </a:spcAft>
              <a:defRPr sz="1700" b="0">
                <a:solidFill>
                  <a:srgbClr val="2A3641"/>
                </a:solidFill>
                <a:latin typeface="Calibri"/>
              </a:defRPr>
            </a:pPr>
            <a:r>
              <a:t>A full waiting queue is absent from the fixed cost. Packets keep entering the narrow path while other corridors have spare capacity. Dijkstra (1959) supplies the path algorithm; Shen, Ren and Liu (2016) and Bhorkar et al. (2012) motivate congestion-aware routing. Our rule is a simpler lab adaptation.</a:t>
            </a:r>
          </a:p>
        </p:txBody>
      </p:sp>
      <p:sp>
        <p:nvSpPr>
          <p:cNvPr id="9" name="TextBox 8"/>
          <p:cNvSpPr txBox="1"/>
          <p:nvPr/>
        </p:nvSpPr>
        <p:spPr>
          <a:xfrm>
            <a:off x="731520" y="5897880"/>
            <a:ext cx="10698480" cy="411480"/>
          </a:xfrm>
          <a:prstGeom prst="rect">
            <a:avLst/>
          </a:prstGeom>
          <a:noFill/>
        </p:spPr>
        <p:txBody>
          <a:bodyPr wrap="square">
            <a:spAutoFit/>
          </a:bodyPr>
          <a:lstStyle/>
          <a:p>
            <a:pPr>
              <a:spcAft>
                <a:spcPts val="700"/>
              </a:spcAft>
              <a:defRPr sz="1300" b="0">
                <a:solidFill>
                  <a:srgbClr val="2A3641"/>
                </a:solidFill>
                <a:latin typeface="Calibri"/>
              </a:defRPr>
            </a:pPr>
            <a:r>
              <a:t>Practical context: OSPF uses Dijkstra to build a shortest-path tree (RFC 2328); this simulation is not an OSPF implementation.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The executable network: 10 nodes and 15 directed links</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03</a:t>
            </a:r>
          </a:p>
        </p:txBody>
      </p:sp>
      <p:pic>
        <p:nvPicPr>
          <p:cNvPr id="5" name="Picture 4" descr="TEN_NODE_TOPOLOGY.png"/>
          <p:cNvPicPr>
            <a:picLocks noChangeAspect="1"/>
          </p:cNvPicPr>
          <p:nvPr/>
        </p:nvPicPr>
        <p:blipFill>
          <a:blip r:embed="rId2"/>
          <a:stretch>
            <a:fillRect/>
          </a:stretch>
        </p:blipFill>
        <p:spPr>
          <a:xfrm>
            <a:off x="1282484" y="1097280"/>
            <a:ext cx="9596550" cy="4389120"/>
          </a:xfrm>
          <a:prstGeom prst="rect">
            <a:avLst/>
          </a:prstGeom>
        </p:spPr>
      </p:pic>
      <p:sp>
        <p:nvSpPr>
          <p:cNvPr id="6" name="TextBox 5"/>
          <p:cNvSpPr txBox="1"/>
          <p:nvPr/>
        </p:nvSpPr>
        <p:spPr>
          <a:xfrm>
            <a:off x="685800" y="5532120"/>
            <a:ext cx="10881360" cy="658368"/>
          </a:xfrm>
          <a:prstGeom prst="rect">
            <a:avLst/>
          </a:prstGeom>
          <a:noFill/>
        </p:spPr>
        <p:txBody>
          <a:bodyPr wrap="square">
            <a:spAutoFit/>
          </a:bodyPr>
          <a:lstStyle/>
          <a:p>
            <a:pPr>
              <a:spcAft>
                <a:spcPts val="700"/>
              </a:spcAft>
              <a:defRPr sz="1600" b="0">
                <a:solidFill>
                  <a:srgbClr val="2A3641"/>
                </a:solidFill>
                <a:latin typeface="Calibri"/>
              </a:defRPr>
            </a:pPr>
            <a:r>
              <a:t>Three colored corridors connect S to T. Four dashed cross-links make seven valid S-to-T paths in total. Each arrow and link ID corresponds exactly to the Python topology and the link table on the next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Every link parameter used by the simulator</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04</a:t>
            </a:r>
          </a:p>
        </p:txBody>
      </p:sp>
      <p:graphicFrame>
        <p:nvGraphicFramePr>
          <p:cNvPr id="5" name="Table 4"/>
          <p:cNvGraphicFramePr>
            <a:graphicFrameLocks noGrp="1"/>
          </p:cNvGraphicFramePr>
          <p:nvPr/>
        </p:nvGraphicFramePr>
        <p:xfrm>
          <a:off x="685800" y="1143000"/>
          <a:ext cx="6583680" cy="5047488"/>
        </p:xfrm>
        <a:graphic>
          <a:graphicData uri="http://schemas.openxmlformats.org/drawingml/2006/table">
            <a:tbl>
              <a:tblPr firstRow="1" bandRow="1">
                <a:tableStyleId>{5C22544A-7EE6-4342-B048-85BDC9FD1C3A}</a:tableStyleId>
              </a:tblPr>
              <a:tblGrid>
                <a:gridCol w="1316736"/>
                <a:gridCol w="1316736"/>
                <a:gridCol w="1316736"/>
                <a:gridCol w="1316736"/>
                <a:gridCol w="1316736"/>
              </a:tblGrid>
              <a:tr h="315468">
                <a:tc>
                  <a:txBody>
                    <a:bodyPr/>
                    <a:lstStyle/>
                    <a:p>
                      <a:pPr>
                        <a:defRPr sz="1200" b="1">
                          <a:solidFill>
                            <a:srgbClr val="FFFFFF"/>
                          </a:solidFill>
                          <a:latin typeface="Calibri"/>
                        </a:defRPr>
                      </a:pPr>
                      <a:r>
                        <a:t>Link</a:t>
                      </a:r>
                    </a:p>
                  </a:txBody>
                  <a:tcPr marL="64008" marR="36576" marT="22860" marB="13716">
                    <a:solidFill>
                      <a:srgbClr val="132D45"/>
                    </a:solidFill>
                  </a:tcPr>
                </a:tc>
                <a:tc>
                  <a:txBody>
                    <a:bodyPr/>
                    <a:lstStyle/>
                    <a:p>
                      <a:pPr>
                        <a:defRPr sz="1200" b="1">
                          <a:solidFill>
                            <a:srgbClr val="FFFFFF"/>
                          </a:solidFill>
                          <a:latin typeface="Calibri"/>
                        </a:defRPr>
                      </a:pPr>
                      <a:r>
                        <a:t>Direction</a:t>
                      </a:r>
                    </a:p>
                  </a:txBody>
                  <a:tcPr marL="64008" marR="36576" marT="22860" marB="13716">
                    <a:solidFill>
                      <a:srgbClr val="132D45"/>
                    </a:solidFill>
                  </a:tcPr>
                </a:tc>
                <a:tc>
                  <a:txBody>
                    <a:bodyPr/>
                    <a:lstStyle/>
                    <a:p>
                      <a:pPr>
                        <a:defRPr sz="1200" b="1">
                          <a:solidFill>
                            <a:srgbClr val="FFFFFF"/>
                          </a:solidFill>
                          <a:latin typeface="Calibri"/>
                        </a:defRPr>
                      </a:pPr>
                      <a:r>
                        <a:t>Delay</a:t>
                      </a:r>
                    </a:p>
                  </a:txBody>
                  <a:tcPr marL="64008" marR="36576" marT="22860" marB="13716">
                    <a:solidFill>
                      <a:srgbClr val="132D45"/>
                    </a:solidFill>
                  </a:tcPr>
                </a:tc>
                <a:tc>
                  <a:txBody>
                    <a:bodyPr/>
                    <a:lstStyle/>
                    <a:p>
                      <a:pPr>
                        <a:defRPr sz="1200" b="1">
                          <a:solidFill>
                            <a:srgbClr val="FFFFFF"/>
                          </a:solidFill>
                          <a:latin typeface="Calibri"/>
                        </a:defRPr>
                      </a:pPr>
                      <a:r>
                        <a:t>Capacity</a:t>
                      </a:r>
                    </a:p>
                  </a:txBody>
                  <a:tcPr marL="64008" marR="36576" marT="22860" marB="13716">
                    <a:solidFill>
                      <a:srgbClr val="132D45"/>
                    </a:solidFill>
                  </a:tcPr>
                </a:tc>
                <a:tc>
                  <a:txBody>
                    <a:bodyPr/>
                    <a:lstStyle/>
                    <a:p>
                      <a:pPr>
                        <a:defRPr sz="1200" b="1">
                          <a:solidFill>
                            <a:srgbClr val="FFFFFF"/>
                          </a:solidFill>
                          <a:latin typeface="Calibri"/>
                        </a:defRPr>
                      </a:pPr>
                      <a:r>
                        <a:t>FIFO size</a:t>
                      </a:r>
                    </a:p>
                  </a:txBody>
                  <a:tcPr marL="64008" marR="36576" marT="22860" marB="13716">
                    <a:solidFill>
                      <a:srgbClr val="132D45"/>
                    </a:solidFill>
                  </a:tcPr>
                </a:tc>
              </a:tr>
              <a:tr h="315468">
                <a:tc>
                  <a:txBody>
                    <a:bodyPr/>
                    <a:lstStyle/>
                    <a:p>
                      <a:pPr>
                        <a:defRPr sz="1200" b="0">
                          <a:solidFill>
                            <a:srgbClr val="2A3641"/>
                          </a:solidFill>
                          <a:latin typeface="Calibri"/>
                        </a:defRPr>
                      </a:pPr>
                      <a:r>
                        <a:t>SA</a:t>
                      </a:r>
                    </a:p>
                  </a:txBody>
                  <a:tcPr marL="64008" marR="36576" marT="22860" marB="13716">
                    <a:solidFill>
                      <a:srgbClr val="FFFFFF"/>
                    </a:solidFill>
                  </a:tcPr>
                </a:tc>
                <a:tc>
                  <a:txBody>
                    <a:bodyPr/>
                    <a:lstStyle/>
                    <a:p>
                      <a:pPr>
                        <a:defRPr sz="1200" b="0">
                          <a:solidFill>
                            <a:srgbClr val="2A3641"/>
                          </a:solidFill>
                          <a:latin typeface="Calibri"/>
                        </a:defRPr>
                      </a:pPr>
                      <a:r>
                        <a:t>S→A</a:t>
                      </a:r>
                    </a:p>
                  </a:txBody>
                  <a:tcPr marL="64008" marR="36576" marT="22860" marB="13716">
                    <a:solidFill>
                      <a:srgbClr val="FFFFFF"/>
                    </a:solidFill>
                  </a:tcPr>
                </a:tc>
                <a:tc>
                  <a:txBody>
                    <a:bodyPr/>
                    <a:lstStyle/>
                    <a:p>
                      <a:pPr>
                        <a:defRPr sz="1200" b="0">
                          <a:solidFill>
                            <a:srgbClr val="2A3641"/>
                          </a:solidFill>
                          <a:latin typeface="Calibri"/>
                        </a:defRPr>
                      </a:pPr>
                      <a:r>
                        <a:t>1</a:t>
                      </a:r>
                    </a:p>
                  </a:txBody>
                  <a:tcPr marL="64008" marR="36576" marT="22860" marB="13716">
                    <a:solidFill>
                      <a:srgbClr val="FFFFFF"/>
                    </a:solidFill>
                  </a:tcPr>
                </a:tc>
                <a:tc>
                  <a:txBody>
                    <a:bodyPr/>
                    <a:lstStyle/>
                    <a:p>
                      <a:pPr>
                        <a:defRPr sz="1200" b="0">
                          <a:solidFill>
                            <a:srgbClr val="2A3641"/>
                          </a:solidFill>
                          <a:latin typeface="Calibri"/>
                        </a:defRPr>
                      </a:pPr>
                      <a:r>
                        <a:t>1</a:t>
                      </a:r>
                    </a:p>
                  </a:txBody>
                  <a:tcPr marL="64008" marR="36576" marT="22860" marB="13716">
                    <a:solidFill>
                      <a:srgbClr val="FFFFFF"/>
                    </a:solidFill>
                  </a:tcPr>
                </a:tc>
                <a:tc>
                  <a:txBody>
                    <a:bodyPr/>
                    <a:lstStyle/>
                    <a:p>
                      <a:pPr>
                        <a:defRPr sz="1200" b="0">
                          <a:solidFill>
                            <a:srgbClr val="2A3641"/>
                          </a:solidFill>
                          <a:latin typeface="Calibri"/>
                        </a:defRPr>
                      </a:pPr>
                      <a:r>
                        <a:t>6</a:t>
                      </a:r>
                    </a:p>
                  </a:txBody>
                  <a:tcPr marL="64008" marR="36576" marT="22860" marB="13716">
                    <a:solidFill>
                      <a:srgbClr val="FFFFFF"/>
                    </a:solidFill>
                  </a:tcPr>
                </a:tc>
              </a:tr>
              <a:tr h="315468">
                <a:tc>
                  <a:txBody>
                    <a:bodyPr/>
                    <a:lstStyle/>
                    <a:p>
                      <a:pPr>
                        <a:defRPr sz="1200" b="0">
                          <a:solidFill>
                            <a:srgbClr val="2A3641"/>
                          </a:solidFill>
                          <a:latin typeface="Calibri"/>
                        </a:defRPr>
                      </a:pPr>
                      <a:r>
                        <a:t>AD</a:t>
                      </a:r>
                    </a:p>
                  </a:txBody>
                  <a:tcPr marL="64008" marR="36576" marT="22860" marB="13716">
                    <a:solidFill>
                      <a:srgbClr val="EEF6F7"/>
                    </a:solidFill>
                  </a:tcPr>
                </a:tc>
                <a:tc>
                  <a:txBody>
                    <a:bodyPr/>
                    <a:lstStyle/>
                    <a:p>
                      <a:pPr>
                        <a:defRPr sz="1200" b="0">
                          <a:solidFill>
                            <a:srgbClr val="2A3641"/>
                          </a:solidFill>
                          <a:latin typeface="Calibri"/>
                        </a:defRPr>
                      </a:pPr>
                      <a:r>
                        <a:t>A→D</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6</a:t>
                      </a:r>
                    </a:p>
                  </a:txBody>
                  <a:tcPr marL="64008" marR="36576" marT="22860" marB="13716">
                    <a:solidFill>
                      <a:srgbClr val="EEF6F7"/>
                    </a:solidFill>
                  </a:tcPr>
                </a:tc>
              </a:tr>
              <a:tr h="315468">
                <a:tc>
                  <a:txBody>
                    <a:bodyPr/>
                    <a:lstStyle/>
                    <a:p>
                      <a:pPr>
                        <a:defRPr sz="1200" b="0">
                          <a:solidFill>
                            <a:srgbClr val="2A3641"/>
                          </a:solidFill>
                          <a:latin typeface="Calibri"/>
                        </a:defRPr>
                      </a:pPr>
                      <a:r>
                        <a:t>DG</a:t>
                      </a:r>
                    </a:p>
                  </a:txBody>
                  <a:tcPr marL="64008" marR="36576" marT="22860" marB="13716">
                    <a:solidFill>
                      <a:srgbClr val="FFFFFF"/>
                    </a:solidFill>
                  </a:tcPr>
                </a:tc>
                <a:tc>
                  <a:txBody>
                    <a:bodyPr/>
                    <a:lstStyle/>
                    <a:p>
                      <a:pPr>
                        <a:defRPr sz="1200" b="0">
                          <a:solidFill>
                            <a:srgbClr val="2A3641"/>
                          </a:solidFill>
                          <a:latin typeface="Calibri"/>
                        </a:defRPr>
                      </a:pPr>
                      <a:r>
                        <a:t>D→G</a:t>
                      </a:r>
                    </a:p>
                  </a:txBody>
                  <a:tcPr marL="64008" marR="36576" marT="22860" marB="13716">
                    <a:solidFill>
                      <a:srgbClr val="FFFFFF"/>
                    </a:solidFill>
                  </a:tcPr>
                </a:tc>
                <a:tc>
                  <a:txBody>
                    <a:bodyPr/>
                    <a:lstStyle/>
                    <a:p>
                      <a:pPr>
                        <a:defRPr sz="1200" b="0">
                          <a:solidFill>
                            <a:srgbClr val="2A3641"/>
                          </a:solidFill>
                          <a:latin typeface="Calibri"/>
                        </a:defRPr>
                      </a:pPr>
                      <a:r>
                        <a:t>1</a:t>
                      </a:r>
                    </a:p>
                  </a:txBody>
                  <a:tcPr marL="64008" marR="36576" marT="22860" marB="13716">
                    <a:solidFill>
                      <a:srgbClr val="FFFFFF"/>
                    </a:solidFill>
                  </a:tcPr>
                </a:tc>
                <a:tc>
                  <a:txBody>
                    <a:bodyPr/>
                    <a:lstStyle/>
                    <a:p>
                      <a:pPr>
                        <a:defRPr sz="1200" b="0">
                          <a:solidFill>
                            <a:srgbClr val="2A3641"/>
                          </a:solidFill>
                          <a:latin typeface="Calibri"/>
                        </a:defRPr>
                      </a:pPr>
                      <a:r>
                        <a:t>1</a:t>
                      </a:r>
                    </a:p>
                  </a:txBody>
                  <a:tcPr marL="64008" marR="36576" marT="22860" marB="13716">
                    <a:solidFill>
                      <a:srgbClr val="FFFFFF"/>
                    </a:solidFill>
                  </a:tcPr>
                </a:tc>
                <a:tc>
                  <a:txBody>
                    <a:bodyPr/>
                    <a:lstStyle/>
                    <a:p>
                      <a:pPr>
                        <a:defRPr sz="1200" b="0">
                          <a:solidFill>
                            <a:srgbClr val="2A3641"/>
                          </a:solidFill>
                          <a:latin typeface="Calibri"/>
                        </a:defRPr>
                      </a:pPr>
                      <a:r>
                        <a:t>6</a:t>
                      </a:r>
                    </a:p>
                  </a:txBody>
                  <a:tcPr marL="64008" marR="36576" marT="22860" marB="13716">
                    <a:solidFill>
                      <a:srgbClr val="FFFFFF"/>
                    </a:solidFill>
                  </a:tcPr>
                </a:tc>
              </a:tr>
              <a:tr h="315468">
                <a:tc>
                  <a:txBody>
                    <a:bodyPr/>
                    <a:lstStyle/>
                    <a:p>
                      <a:pPr>
                        <a:defRPr sz="1200" b="0">
                          <a:solidFill>
                            <a:srgbClr val="2A3641"/>
                          </a:solidFill>
                          <a:latin typeface="Calibri"/>
                        </a:defRPr>
                      </a:pPr>
                      <a:r>
                        <a:t>GT</a:t>
                      </a:r>
                    </a:p>
                  </a:txBody>
                  <a:tcPr marL="64008" marR="36576" marT="22860" marB="13716">
                    <a:solidFill>
                      <a:srgbClr val="EEF6F7"/>
                    </a:solidFill>
                  </a:tcPr>
                </a:tc>
                <a:tc>
                  <a:txBody>
                    <a:bodyPr/>
                    <a:lstStyle/>
                    <a:p>
                      <a:pPr>
                        <a:defRPr sz="1200" b="0">
                          <a:solidFill>
                            <a:srgbClr val="2A3641"/>
                          </a:solidFill>
                          <a:latin typeface="Calibri"/>
                        </a:defRPr>
                      </a:pPr>
                      <a:r>
                        <a:t>G→T</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6</a:t>
                      </a:r>
                    </a:p>
                  </a:txBody>
                  <a:tcPr marL="64008" marR="36576" marT="22860" marB="13716">
                    <a:solidFill>
                      <a:srgbClr val="EEF6F7"/>
                    </a:solidFill>
                  </a:tcPr>
                </a:tc>
              </a:tr>
              <a:tr h="315468">
                <a:tc>
                  <a:txBody>
                    <a:bodyPr/>
                    <a:lstStyle/>
                    <a:p>
                      <a:pPr>
                        <a:defRPr sz="1200" b="0">
                          <a:solidFill>
                            <a:srgbClr val="2A3641"/>
                          </a:solidFill>
                          <a:latin typeface="Calibri"/>
                        </a:defRPr>
                      </a:pPr>
                      <a:r>
                        <a:t>SB</a:t>
                      </a:r>
                    </a:p>
                  </a:txBody>
                  <a:tcPr marL="64008" marR="36576" marT="22860" marB="13716">
                    <a:solidFill>
                      <a:srgbClr val="FFFFFF"/>
                    </a:solidFill>
                  </a:tcPr>
                </a:tc>
                <a:tc>
                  <a:txBody>
                    <a:bodyPr/>
                    <a:lstStyle/>
                    <a:p>
                      <a:pPr>
                        <a:defRPr sz="1200" b="0">
                          <a:solidFill>
                            <a:srgbClr val="2A3641"/>
                          </a:solidFill>
                          <a:latin typeface="Calibri"/>
                        </a:defRPr>
                      </a:pPr>
                      <a:r>
                        <a:t>S→B</a:t>
                      </a:r>
                    </a:p>
                  </a:txBody>
                  <a:tcPr marL="64008" marR="36576" marT="22860" marB="13716">
                    <a:solidFill>
                      <a:srgbClr val="FFFFFF"/>
                    </a:solidFill>
                  </a:tcPr>
                </a:tc>
                <a:tc>
                  <a:txBody>
                    <a:bodyPr/>
                    <a:lstStyle/>
                    <a:p>
                      <a:pPr>
                        <a:defRPr sz="1200" b="0">
                          <a:solidFill>
                            <a:srgbClr val="2A3641"/>
                          </a:solidFill>
                          <a:latin typeface="Calibri"/>
                        </a:defRPr>
                      </a:pPr>
                      <a:r>
                        <a:t>2</a:t>
                      </a:r>
                    </a:p>
                  </a:txBody>
                  <a:tcPr marL="64008" marR="36576" marT="22860" marB="13716">
                    <a:solidFill>
                      <a:srgbClr val="FFFFFF"/>
                    </a:solidFill>
                  </a:tcPr>
                </a:tc>
                <a:tc>
                  <a:txBody>
                    <a:bodyPr/>
                    <a:lstStyle/>
                    <a:p>
                      <a:pPr>
                        <a:defRPr sz="1200" b="0">
                          <a:solidFill>
                            <a:srgbClr val="2A3641"/>
                          </a:solidFill>
                          <a:latin typeface="Calibri"/>
                        </a:defRPr>
                      </a:pPr>
                      <a:r>
                        <a:t>2</a:t>
                      </a:r>
                    </a:p>
                  </a:txBody>
                  <a:tcPr marL="64008" marR="36576" marT="22860" marB="13716">
                    <a:solidFill>
                      <a:srgbClr val="FFFFFF"/>
                    </a:solidFill>
                  </a:tcPr>
                </a:tc>
                <a:tc>
                  <a:txBody>
                    <a:bodyPr/>
                    <a:lstStyle/>
                    <a:p>
                      <a:pPr>
                        <a:defRPr sz="1200" b="0">
                          <a:solidFill>
                            <a:srgbClr val="2A3641"/>
                          </a:solidFill>
                          <a:latin typeface="Calibri"/>
                        </a:defRPr>
                      </a:pPr>
                      <a:r>
                        <a:t>8</a:t>
                      </a:r>
                    </a:p>
                  </a:txBody>
                  <a:tcPr marL="64008" marR="36576" marT="22860" marB="13716">
                    <a:solidFill>
                      <a:srgbClr val="FFFFFF"/>
                    </a:solidFill>
                  </a:tcPr>
                </a:tc>
              </a:tr>
              <a:tr h="315468">
                <a:tc>
                  <a:txBody>
                    <a:bodyPr/>
                    <a:lstStyle/>
                    <a:p>
                      <a:pPr>
                        <a:defRPr sz="1200" b="0">
                          <a:solidFill>
                            <a:srgbClr val="2A3641"/>
                          </a:solidFill>
                          <a:latin typeface="Calibri"/>
                        </a:defRPr>
                      </a:pPr>
                      <a:r>
                        <a:t>BE</a:t>
                      </a:r>
                    </a:p>
                  </a:txBody>
                  <a:tcPr marL="64008" marR="36576" marT="22860" marB="13716">
                    <a:solidFill>
                      <a:srgbClr val="EEF6F7"/>
                    </a:solidFill>
                  </a:tcPr>
                </a:tc>
                <a:tc>
                  <a:txBody>
                    <a:bodyPr/>
                    <a:lstStyle/>
                    <a:p>
                      <a:pPr>
                        <a:defRPr sz="1200" b="0">
                          <a:solidFill>
                            <a:srgbClr val="2A3641"/>
                          </a:solidFill>
                          <a:latin typeface="Calibri"/>
                        </a:defRPr>
                      </a:pPr>
                      <a:r>
                        <a:t>B→E</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2</a:t>
                      </a:r>
                    </a:p>
                  </a:txBody>
                  <a:tcPr marL="64008" marR="36576" marT="22860" marB="13716">
                    <a:solidFill>
                      <a:srgbClr val="EEF6F7"/>
                    </a:solidFill>
                  </a:tcPr>
                </a:tc>
                <a:tc>
                  <a:txBody>
                    <a:bodyPr/>
                    <a:lstStyle/>
                    <a:p>
                      <a:pPr>
                        <a:defRPr sz="1200" b="0">
                          <a:solidFill>
                            <a:srgbClr val="2A3641"/>
                          </a:solidFill>
                          <a:latin typeface="Calibri"/>
                        </a:defRPr>
                      </a:pPr>
                      <a:r>
                        <a:t>8</a:t>
                      </a:r>
                    </a:p>
                  </a:txBody>
                  <a:tcPr marL="64008" marR="36576" marT="22860" marB="13716">
                    <a:solidFill>
                      <a:srgbClr val="EEF6F7"/>
                    </a:solidFill>
                  </a:tcPr>
                </a:tc>
              </a:tr>
              <a:tr h="315468">
                <a:tc>
                  <a:txBody>
                    <a:bodyPr/>
                    <a:lstStyle/>
                    <a:p>
                      <a:pPr>
                        <a:defRPr sz="1200" b="0">
                          <a:solidFill>
                            <a:srgbClr val="2A3641"/>
                          </a:solidFill>
                          <a:latin typeface="Calibri"/>
                        </a:defRPr>
                      </a:pPr>
                      <a:r>
                        <a:t>EH</a:t>
                      </a:r>
                    </a:p>
                  </a:txBody>
                  <a:tcPr marL="64008" marR="36576" marT="22860" marB="13716">
                    <a:solidFill>
                      <a:srgbClr val="FFFFFF"/>
                    </a:solidFill>
                  </a:tcPr>
                </a:tc>
                <a:tc>
                  <a:txBody>
                    <a:bodyPr/>
                    <a:lstStyle/>
                    <a:p>
                      <a:pPr>
                        <a:defRPr sz="1200" b="0">
                          <a:solidFill>
                            <a:srgbClr val="2A3641"/>
                          </a:solidFill>
                          <a:latin typeface="Calibri"/>
                        </a:defRPr>
                      </a:pPr>
                      <a:r>
                        <a:t>E→H</a:t>
                      </a:r>
                    </a:p>
                  </a:txBody>
                  <a:tcPr marL="64008" marR="36576" marT="22860" marB="13716">
                    <a:solidFill>
                      <a:srgbClr val="FFFFFF"/>
                    </a:solidFill>
                  </a:tcPr>
                </a:tc>
                <a:tc>
                  <a:txBody>
                    <a:bodyPr/>
                    <a:lstStyle/>
                    <a:p>
                      <a:pPr>
                        <a:defRPr sz="1200" b="0">
                          <a:solidFill>
                            <a:srgbClr val="2A3641"/>
                          </a:solidFill>
                          <a:latin typeface="Calibri"/>
                        </a:defRPr>
                      </a:pPr>
                      <a:r>
                        <a:t>1</a:t>
                      </a:r>
                    </a:p>
                  </a:txBody>
                  <a:tcPr marL="64008" marR="36576" marT="22860" marB="13716">
                    <a:solidFill>
                      <a:srgbClr val="FFFFFF"/>
                    </a:solidFill>
                  </a:tcPr>
                </a:tc>
                <a:tc>
                  <a:txBody>
                    <a:bodyPr/>
                    <a:lstStyle/>
                    <a:p>
                      <a:pPr>
                        <a:defRPr sz="1200" b="0">
                          <a:solidFill>
                            <a:srgbClr val="2A3641"/>
                          </a:solidFill>
                          <a:latin typeface="Calibri"/>
                        </a:defRPr>
                      </a:pPr>
                      <a:r>
                        <a:t>2</a:t>
                      </a:r>
                    </a:p>
                  </a:txBody>
                  <a:tcPr marL="64008" marR="36576" marT="22860" marB="13716">
                    <a:solidFill>
                      <a:srgbClr val="FFFFFF"/>
                    </a:solidFill>
                  </a:tcPr>
                </a:tc>
                <a:tc>
                  <a:txBody>
                    <a:bodyPr/>
                    <a:lstStyle/>
                    <a:p>
                      <a:pPr>
                        <a:defRPr sz="1200" b="0">
                          <a:solidFill>
                            <a:srgbClr val="2A3641"/>
                          </a:solidFill>
                          <a:latin typeface="Calibri"/>
                        </a:defRPr>
                      </a:pPr>
                      <a:r>
                        <a:t>8</a:t>
                      </a:r>
                    </a:p>
                  </a:txBody>
                  <a:tcPr marL="64008" marR="36576" marT="22860" marB="13716">
                    <a:solidFill>
                      <a:srgbClr val="FFFFFF"/>
                    </a:solidFill>
                  </a:tcPr>
                </a:tc>
              </a:tr>
              <a:tr h="315468">
                <a:tc>
                  <a:txBody>
                    <a:bodyPr/>
                    <a:lstStyle/>
                    <a:p>
                      <a:pPr>
                        <a:defRPr sz="1200" b="0">
                          <a:solidFill>
                            <a:srgbClr val="2A3641"/>
                          </a:solidFill>
                          <a:latin typeface="Calibri"/>
                        </a:defRPr>
                      </a:pPr>
                      <a:r>
                        <a:t>HT</a:t>
                      </a:r>
                    </a:p>
                  </a:txBody>
                  <a:tcPr marL="64008" marR="36576" marT="22860" marB="13716">
                    <a:solidFill>
                      <a:srgbClr val="EEF6F7"/>
                    </a:solidFill>
                  </a:tcPr>
                </a:tc>
                <a:tc>
                  <a:txBody>
                    <a:bodyPr/>
                    <a:lstStyle/>
                    <a:p>
                      <a:pPr>
                        <a:defRPr sz="1200" b="0">
                          <a:solidFill>
                            <a:srgbClr val="2A3641"/>
                          </a:solidFill>
                          <a:latin typeface="Calibri"/>
                        </a:defRPr>
                      </a:pPr>
                      <a:r>
                        <a:t>H→T</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2</a:t>
                      </a:r>
                    </a:p>
                  </a:txBody>
                  <a:tcPr marL="64008" marR="36576" marT="22860" marB="13716">
                    <a:solidFill>
                      <a:srgbClr val="EEF6F7"/>
                    </a:solidFill>
                  </a:tcPr>
                </a:tc>
                <a:tc>
                  <a:txBody>
                    <a:bodyPr/>
                    <a:lstStyle/>
                    <a:p>
                      <a:pPr>
                        <a:defRPr sz="1200" b="0">
                          <a:solidFill>
                            <a:srgbClr val="2A3641"/>
                          </a:solidFill>
                          <a:latin typeface="Calibri"/>
                        </a:defRPr>
                      </a:pPr>
                      <a:r>
                        <a:t>8</a:t>
                      </a:r>
                    </a:p>
                  </a:txBody>
                  <a:tcPr marL="64008" marR="36576" marT="22860" marB="13716">
                    <a:solidFill>
                      <a:srgbClr val="EEF6F7"/>
                    </a:solidFill>
                  </a:tcPr>
                </a:tc>
              </a:tr>
              <a:tr h="315468">
                <a:tc>
                  <a:txBody>
                    <a:bodyPr/>
                    <a:lstStyle/>
                    <a:p>
                      <a:pPr>
                        <a:defRPr sz="1200" b="0">
                          <a:solidFill>
                            <a:srgbClr val="2A3641"/>
                          </a:solidFill>
                          <a:latin typeface="Calibri"/>
                        </a:defRPr>
                      </a:pPr>
                      <a:r>
                        <a:t>SC</a:t>
                      </a:r>
                    </a:p>
                  </a:txBody>
                  <a:tcPr marL="64008" marR="36576" marT="22860" marB="13716">
                    <a:solidFill>
                      <a:srgbClr val="FFFFFF"/>
                    </a:solidFill>
                  </a:tcPr>
                </a:tc>
                <a:tc>
                  <a:txBody>
                    <a:bodyPr/>
                    <a:lstStyle/>
                    <a:p>
                      <a:pPr>
                        <a:defRPr sz="1200" b="0">
                          <a:solidFill>
                            <a:srgbClr val="2A3641"/>
                          </a:solidFill>
                          <a:latin typeface="Calibri"/>
                        </a:defRPr>
                      </a:pPr>
                      <a:r>
                        <a:t>S→C</a:t>
                      </a:r>
                    </a:p>
                  </a:txBody>
                  <a:tcPr marL="64008" marR="36576" marT="22860" marB="13716">
                    <a:solidFill>
                      <a:srgbClr val="FFFFFF"/>
                    </a:solidFill>
                  </a:tcPr>
                </a:tc>
                <a:tc>
                  <a:txBody>
                    <a:bodyPr/>
                    <a:lstStyle/>
                    <a:p>
                      <a:pPr>
                        <a:defRPr sz="1200" b="0">
                          <a:solidFill>
                            <a:srgbClr val="2A3641"/>
                          </a:solidFill>
                          <a:latin typeface="Calibri"/>
                        </a:defRPr>
                      </a:pPr>
                      <a:r>
                        <a:t>2</a:t>
                      </a:r>
                    </a:p>
                  </a:txBody>
                  <a:tcPr marL="64008" marR="36576" marT="22860" marB="13716">
                    <a:solidFill>
                      <a:srgbClr val="FFFFFF"/>
                    </a:solidFill>
                  </a:tcPr>
                </a:tc>
                <a:tc>
                  <a:txBody>
                    <a:bodyPr/>
                    <a:lstStyle/>
                    <a:p>
                      <a:pPr>
                        <a:defRPr sz="1200" b="0">
                          <a:solidFill>
                            <a:srgbClr val="2A3641"/>
                          </a:solidFill>
                          <a:latin typeface="Calibri"/>
                        </a:defRPr>
                      </a:pPr>
                      <a:r>
                        <a:t>3</a:t>
                      </a:r>
                    </a:p>
                  </a:txBody>
                  <a:tcPr marL="64008" marR="36576" marT="22860" marB="13716">
                    <a:solidFill>
                      <a:srgbClr val="FFFFFF"/>
                    </a:solidFill>
                  </a:tcPr>
                </a:tc>
                <a:tc>
                  <a:txBody>
                    <a:bodyPr/>
                    <a:lstStyle/>
                    <a:p>
                      <a:pPr>
                        <a:defRPr sz="1200" b="0">
                          <a:solidFill>
                            <a:srgbClr val="2A3641"/>
                          </a:solidFill>
                          <a:latin typeface="Calibri"/>
                        </a:defRPr>
                      </a:pPr>
                      <a:r>
                        <a:t>10</a:t>
                      </a:r>
                    </a:p>
                  </a:txBody>
                  <a:tcPr marL="64008" marR="36576" marT="22860" marB="13716">
                    <a:solidFill>
                      <a:srgbClr val="FFFFFF"/>
                    </a:solidFill>
                  </a:tcPr>
                </a:tc>
              </a:tr>
              <a:tr h="315468">
                <a:tc>
                  <a:txBody>
                    <a:bodyPr/>
                    <a:lstStyle/>
                    <a:p>
                      <a:pPr>
                        <a:defRPr sz="1200" b="0">
                          <a:solidFill>
                            <a:srgbClr val="2A3641"/>
                          </a:solidFill>
                          <a:latin typeface="Calibri"/>
                        </a:defRPr>
                      </a:pPr>
                      <a:r>
                        <a:t>CF</a:t>
                      </a:r>
                    </a:p>
                  </a:txBody>
                  <a:tcPr marL="64008" marR="36576" marT="22860" marB="13716">
                    <a:solidFill>
                      <a:srgbClr val="EEF6F7"/>
                    </a:solidFill>
                  </a:tcPr>
                </a:tc>
                <a:tc>
                  <a:txBody>
                    <a:bodyPr/>
                    <a:lstStyle/>
                    <a:p>
                      <a:pPr>
                        <a:defRPr sz="1200" b="0">
                          <a:solidFill>
                            <a:srgbClr val="2A3641"/>
                          </a:solidFill>
                          <a:latin typeface="Calibri"/>
                        </a:defRPr>
                      </a:pPr>
                      <a:r>
                        <a:t>C→F</a:t>
                      </a:r>
                    </a:p>
                  </a:txBody>
                  <a:tcPr marL="64008" marR="36576" marT="22860" marB="13716">
                    <a:solidFill>
                      <a:srgbClr val="EEF6F7"/>
                    </a:solidFill>
                  </a:tcPr>
                </a:tc>
                <a:tc>
                  <a:txBody>
                    <a:bodyPr/>
                    <a:lstStyle/>
                    <a:p>
                      <a:pPr>
                        <a:defRPr sz="1200" b="0">
                          <a:solidFill>
                            <a:srgbClr val="2A3641"/>
                          </a:solidFill>
                          <a:latin typeface="Calibri"/>
                        </a:defRPr>
                      </a:pPr>
                      <a:r>
                        <a:t>2</a:t>
                      </a:r>
                    </a:p>
                  </a:txBody>
                  <a:tcPr marL="64008" marR="36576" marT="22860" marB="13716">
                    <a:solidFill>
                      <a:srgbClr val="EEF6F7"/>
                    </a:solidFill>
                  </a:tcPr>
                </a:tc>
                <a:tc>
                  <a:txBody>
                    <a:bodyPr/>
                    <a:lstStyle/>
                    <a:p>
                      <a:pPr>
                        <a:defRPr sz="1200" b="0">
                          <a:solidFill>
                            <a:srgbClr val="2A3641"/>
                          </a:solidFill>
                          <a:latin typeface="Calibri"/>
                        </a:defRPr>
                      </a:pPr>
                      <a:r>
                        <a:t>3</a:t>
                      </a:r>
                    </a:p>
                  </a:txBody>
                  <a:tcPr marL="64008" marR="36576" marT="22860" marB="13716">
                    <a:solidFill>
                      <a:srgbClr val="EEF6F7"/>
                    </a:solidFill>
                  </a:tcPr>
                </a:tc>
                <a:tc>
                  <a:txBody>
                    <a:bodyPr/>
                    <a:lstStyle/>
                    <a:p>
                      <a:pPr>
                        <a:defRPr sz="1200" b="0">
                          <a:solidFill>
                            <a:srgbClr val="2A3641"/>
                          </a:solidFill>
                          <a:latin typeface="Calibri"/>
                        </a:defRPr>
                      </a:pPr>
                      <a:r>
                        <a:t>10</a:t>
                      </a:r>
                    </a:p>
                  </a:txBody>
                  <a:tcPr marL="64008" marR="36576" marT="22860" marB="13716">
                    <a:solidFill>
                      <a:srgbClr val="EEF6F7"/>
                    </a:solidFill>
                  </a:tcPr>
                </a:tc>
              </a:tr>
              <a:tr h="315468">
                <a:tc>
                  <a:txBody>
                    <a:bodyPr/>
                    <a:lstStyle/>
                    <a:p>
                      <a:pPr>
                        <a:defRPr sz="1200" b="0">
                          <a:solidFill>
                            <a:srgbClr val="2A3641"/>
                          </a:solidFill>
                          <a:latin typeface="Calibri"/>
                        </a:defRPr>
                      </a:pPr>
                      <a:r>
                        <a:t>FT</a:t>
                      </a:r>
                    </a:p>
                  </a:txBody>
                  <a:tcPr marL="64008" marR="36576" marT="22860" marB="13716">
                    <a:solidFill>
                      <a:srgbClr val="FFFFFF"/>
                    </a:solidFill>
                  </a:tcPr>
                </a:tc>
                <a:tc>
                  <a:txBody>
                    <a:bodyPr/>
                    <a:lstStyle/>
                    <a:p>
                      <a:pPr>
                        <a:defRPr sz="1200" b="0">
                          <a:solidFill>
                            <a:srgbClr val="2A3641"/>
                          </a:solidFill>
                          <a:latin typeface="Calibri"/>
                        </a:defRPr>
                      </a:pPr>
                      <a:r>
                        <a:t>F→T</a:t>
                      </a:r>
                    </a:p>
                  </a:txBody>
                  <a:tcPr marL="64008" marR="36576" marT="22860" marB="13716">
                    <a:solidFill>
                      <a:srgbClr val="FFFFFF"/>
                    </a:solidFill>
                  </a:tcPr>
                </a:tc>
                <a:tc>
                  <a:txBody>
                    <a:bodyPr/>
                    <a:lstStyle/>
                    <a:p>
                      <a:pPr>
                        <a:defRPr sz="1200" b="0">
                          <a:solidFill>
                            <a:srgbClr val="2A3641"/>
                          </a:solidFill>
                          <a:latin typeface="Calibri"/>
                        </a:defRPr>
                      </a:pPr>
                      <a:r>
                        <a:t>2</a:t>
                      </a:r>
                    </a:p>
                  </a:txBody>
                  <a:tcPr marL="64008" marR="36576" marT="22860" marB="13716">
                    <a:solidFill>
                      <a:srgbClr val="FFFFFF"/>
                    </a:solidFill>
                  </a:tcPr>
                </a:tc>
                <a:tc>
                  <a:txBody>
                    <a:bodyPr/>
                    <a:lstStyle/>
                    <a:p>
                      <a:pPr>
                        <a:defRPr sz="1200" b="0">
                          <a:solidFill>
                            <a:srgbClr val="2A3641"/>
                          </a:solidFill>
                          <a:latin typeface="Calibri"/>
                        </a:defRPr>
                      </a:pPr>
                      <a:r>
                        <a:t>3</a:t>
                      </a:r>
                    </a:p>
                  </a:txBody>
                  <a:tcPr marL="64008" marR="36576" marT="22860" marB="13716">
                    <a:solidFill>
                      <a:srgbClr val="FFFFFF"/>
                    </a:solidFill>
                  </a:tcPr>
                </a:tc>
                <a:tc>
                  <a:txBody>
                    <a:bodyPr/>
                    <a:lstStyle/>
                    <a:p>
                      <a:pPr>
                        <a:defRPr sz="1200" b="0">
                          <a:solidFill>
                            <a:srgbClr val="2A3641"/>
                          </a:solidFill>
                          <a:latin typeface="Calibri"/>
                        </a:defRPr>
                      </a:pPr>
                      <a:r>
                        <a:t>10</a:t>
                      </a:r>
                    </a:p>
                  </a:txBody>
                  <a:tcPr marL="64008" marR="36576" marT="22860" marB="13716">
                    <a:solidFill>
                      <a:srgbClr val="FFFFFF"/>
                    </a:solidFill>
                  </a:tcPr>
                </a:tc>
              </a:tr>
              <a:tr h="315468">
                <a:tc>
                  <a:txBody>
                    <a:bodyPr/>
                    <a:lstStyle/>
                    <a:p>
                      <a:pPr>
                        <a:defRPr sz="1200" b="0">
                          <a:solidFill>
                            <a:srgbClr val="2A3641"/>
                          </a:solidFill>
                          <a:latin typeface="Calibri"/>
                        </a:defRPr>
                      </a:pPr>
                      <a:r>
                        <a:t>AE</a:t>
                      </a:r>
                    </a:p>
                  </a:txBody>
                  <a:tcPr marL="64008" marR="36576" marT="22860" marB="13716">
                    <a:solidFill>
                      <a:srgbClr val="EEF6F7"/>
                    </a:solidFill>
                  </a:tcPr>
                </a:tc>
                <a:tc>
                  <a:txBody>
                    <a:bodyPr/>
                    <a:lstStyle/>
                    <a:p>
                      <a:pPr>
                        <a:defRPr sz="1200" b="0">
                          <a:solidFill>
                            <a:srgbClr val="2A3641"/>
                          </a:solidFill>
                          <a:latin typeface="Calibri"/>
                        </a:defRPr>
                      </a:pPr>
                      <a:r>
                        <a:t>A→E</a:t>
                      </a:r>
                    </a:p>
                  </a:txBody>
                  <a:tcPr marL="64008" marR="36576" marT="22860" marB="13716">
                    <a:solidFill>
                      <a:srgbClr val="EEF6F7"/>
                    </a:solidFill>
                  </a:tcPr>
                </a:tc>
                <a:tc>
                  <a:txBody>
                    <a:bodyPr/>
                    <a:lstStyle/>
                    <a:p>
                      <a:pPr>
                        <a:defRPr sz="1200" b="0">
                          <a:solidFill>
                            <a:srgbClr val="2A3641"/>
                          </a:solidFill>
                          <a:latin typeface="Calibri"/>
                        </a:defRPr>
                      </a:pPr>
                      <a:r>
                        <a:t>3</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6</a:t>
                      </a:r>
                    </a:p>
                  </a:txBody>
                  <a:tcPr marL="64008" marR="36576" marT="22860" marB="13716">
                    <a:solidFill>
                      <a:srgbClr val="EEF6F7"/>
                    </a:solidFill>
                  </a:tcPr>
                </a:tc>
              </a:tr>
              <a:tr h="315468">
                <a:tc>
                  <a:txBody>
                    <a:bodyPr/>
                    <a:lstStyle/>
                    <a:p>
                      <a:pPr>
                        <a:defRPr sz="1200" b="0">
                          <a:solidFill>
                            <a:srgbClr val="2A3641"/>
                          </a:solidFill>
                          <a:latin typeface="Calibri"/>
                        </a:defRPr>
                      </a:pPr>
                      <a:r>
                        <a:t>BD</a:t>
                      </a:r>
                    </a:p>
                  </a:txBody>
                  <a:tcPr marL="64008" marR="36576" marT="22860" marB="13716">
                    <a:solidFill>
                      <a:srgbClr val="FFFFFF"/>
                    </a:solidFill>
                  </a:tcPr>
                </a:tc>
                <a:tc>
                  <a:txBody>
                    <a:bodyPr/>
                    <a:lstStyle/>
                    <a:p>
                      <a:pPr>
                        <a:defRPr sz="1200" b="0">
                          <a:solidFill>
                            <a:srgbClr val="2A3641"/>
                          </a:solidFill>
                          <a:latin typeface="Calibri"/>
                        </a:defRPr>
                      </a:pPr>
                      <a:r>
                        <a:t>B→D</a:t>
                      </a:r>
                    </a:p>
                  </a:txBody>
                  <a:tcPr marL="64008" marR="36576" marT="22860" marB="13716">
                    <a:solidFill>
                      <a:srgbClr val="FFFFFF"/>
                    </a:solidFill>
                  </a:tcPr>
                </a:tc>
                <a:tc>
                  <a:txBody>
                    <a:bodyPr/>
                    <a:lstStyle/>
                    <a:p>
                      <a:pPr>
                        <a:defRPr sz="1200" b="0">
                          <a:solidFill>
                            <a:srgbClr val="2A3641"/>
                          </a:solidFill>
                          <a:latin typeface="Calibri"/>
                        </a:defRPr>
                      </a:pPr>
                      <a:r>
                        <a:t>3</a:t>
                      </a:r>
                    </a:p>
                  </a:txBody>
                  <a:tcPr marL="64008" marR="36576" marT="22860" marB="13716">
                    <a:solidFill>
                      <a:srgbClr val="FFFFFF"/>
                    </a:solidFill>
                  </a:tcPr>
                </a:tc>
                <a:tc>
                  <a:txBody>
                    <a:bodyPr/>
                    <a:lstStyle/>
                    <a:p>
                      <a:pPr>
                        <a:defRPr sz="1200" b="0">
                          <a:solidFill>
                            <a:srgbClr val="2A3641"/>
                          </a:solidFill>
                          <a:latin typeface="Calibri"/>
                        </a:defRPr>
                      </a:pPr>
                      <a:r>
                        <a:t>1</a:t>
                      </a:r>
                    </a:p>
                  </a:txBody>
                  <a:tcPr marL="64008" marR="36576" marT="22860" marB="13716">
                    <a:solidFill>
                      <a:srgbClr val="FFFFFF"/>
                    </a:solidFill>
                  </a:tcPr>
                </a:tc>
                <a:tc>
                  <a:txBody>
                    <a:bodyPr/>
                    <a:lstStyle/>
                    <a:p>
                      <a:pPr>
                        <a:defRPr sz="1200" b="0">
                          <a:solidFill>
                            <a:srgbClr val="2A3641"/>
                          </a:solidFill>
                          <a:latin typeface="Calibri"/>
                        </a:defRPr>
                      </a:pPr>
                      <a:r>
                        <a:t>6</a:t>
                      </a:r>
                    </a:p>
                  </a:txBody>
                  <a:tcPr marL="64008" marR="36576" marT="22860" marB="13716">
                    <a:solidFill>
                      <a:srgbClr val="FFFFFF"/>
                    </a:solidFill>
                  </a:tcPr>
                </a:tc>
              </a:tr>
              <a:tr h="315468">
                <a:tc>
                  <a:txBody>
                    <a:bodyPr/>
                    <a:lstStyle/>
                    <a:p>
                      <a:pPr>
                        <a:defRPr sz="1200" b="0">
                          <a:solidFill>
                            <a:srgbClr val="2A3641"/>
                          </a:solidFill>
                          <a:latin typeface="Calibri"/>
                        </a:defRPr>
                      </a:pPr>
                      <a:r>
                        <a:t>CE</a:t>
                      </a:r>
                    </a:p>
                  </a:txBody>
                  <a:tcPr marL="64008" marR="36576" marT="22860" marB="13716">
                    <a:solidFill>
                      <a:srgbClr val="EEF6F7"/>
                    </a:solidFill>
                  </a:tcPr>
                </a:tc>
                <a:tc>
                  <a:txBody>
                    <a:bodyPr/>
                    <a:lstStyle/>
                    <a:p>
                      <a:pPr>
                        <a:defRPr sz="1200" b="0">
                          <a:solidFill>
                            <a:srgbClr val="2A3641"/>
                          </a:solidFill>
                          <a:latin typeface="Calibri"/>
                        </a:defRPr>
                      </a:pPr>
                      <a:r>
                        <a:t>C→E</a:t>
                      </a:r>
                    </a:p>
                  </a:txBody>
                  <a:tcPr marL="64008" marR="36576" marT="22860" marB="13716">
                    <a:solidFill>
                      <a:srgbClr val="EEF6F7"/>
                    </a:solidFill>
                  </a:tcPr>
                </a:tc>
                <a:tc>
                  <a:txBody>
                    <a:bodyPr/>
                    <a:lstStyle/>
                    <a:p>
                      <a:pPr>
                        <a:defRPr sz="1200" b="0">
                          <a:solidFill>
                            <a:srgbClr val="2A3641"/>
                          </a:solidFill>
                          <a:latin typeface="Calibri"/>
                        </a:defRPr>
                      </a:pPr>
                      <a:r>
                        <a:t>3</a:t>
                      </a:r>
                    </a:p>
                  </a:txBody>
                  <a:tcPr marL="64008" marR="36576" marT="22860" marB="13716">
                    <a:solidFill>
                      <a:srgbClr val="EEF6F7"/>
                    </a:solidFill>
                  </a:tcPr>
                </a:tc>
                <a:tc>
                  <a:txBody>
                    <a:bodyPr/>
                    <a:lstStyle/>
                    <a:p>
                      <a:pPr>
                        <a:defRPr sz="1200" b="0">
                          <a:solidFill>
                            <a:srgbClr val="2A3641"/>
                          </a:solidFill>
                          <a:latin typeface="Calibri"/>
                        </a:defRPr>
                      </a:pPr>
                      <a:r>
                        <a:t>1</a:t>
                      </a:r>
                    </a:p>
                  </a:txBody>
                  <a:tcPr marL="64008" marR="36576" marT="22860" marB="13716">
                    <a:solidFill>
                      <a:srgbClr val="EEF6F7"/>
                    </a:solidFill>
                  </a:tcPr>
                </a:tc>
                <a:tc>
                  <a:txBody>
                    <a:bodyPr/>
                    <a:lstStyle/>
                    <a:p>
                      <a:pPr>
                        <a:defRPr sz="1200" b="0">
                          <a:solidFill>
                            <a:srgbClr val="2A3641"/>
                          </a:solidFill>
                          <a:latin typeface="Calibri"/>
                        </a:defRPr>
                      </a:pPr>
                      <a:r>
                        <a:t>6</a:t>
                      </a:r>
                    </a:p>
                  </a:txBody>
                  <a:tcPr marL="64008" marR="36576" marT="22860" marB="13716">
                    <a:solidFill>
                      <a:srgbClr val="EEF6F7"/>
                    </a:solidFill>
                  </a:tcPr>
                </a:tc>
              </a:tr>
              <a:tr h="315468">
                <a:tc>
                  <a:txBody>
                    <a:bodyPr/>
                    <a:lstStyle/>
                    <a:p>
                      <a:pPr>
                        <a:defRPr sz="1200" b="0">
                          <a:solidFill>
                            <a:srgbClr val="2A3641"/>
                          </a:solidFill>
                          <a:latin typeface="Calibri"/>
                        </a:defRPr>
                      </a:pPr>
                      <a:r>
                        <a:t>FH</a:t>
                      </a:r>
                    </a:p>
                  </a:txBody>
                  <a:tcPr marL="64008" marR="36576" marT="22860" marB="13716">
                    <a:solidFill>
                      <a:srgbClr val="FFFFFF"/>
                    </a:solidFill>
                  </a:tcPr>
                </a:tc>
                <a:tc>
                  <a:txBody>
                    <a:bodyPr/>
                    <a:lstStyle/>
                    <a:p>
                      <a:pPr>
                        <a:defRPr sz="1200" b="0">
                          <a:solidFill>
                            <a:srgbClr val="2A3641"/>
                          </a:solidFill>
                          <a:latin typeface="Calibri"/>
                        </a:defRPr>
                      </a:pPr>
                      <a:r>
                        <a:t>F→H</a:t>
                      </a:r>
                    </a:p>
                  </a:txBody>
                  <a:tcPr marL="64008" marR="36576" marT="22860" marB="13716">
                    <a:solidFill>
                      <a:srgbClr val="FFFFFF"/>
                    </a:solidFill>
                  </a:tcPr>
                </a:tc>
                <a:tc>
                  <a:txBody>
                    <a:bodyPr/>
                    <a:lstStyle/>
                    <a:p>
                      <a:pPr>
                        <a:defRPr sz="1200" b="0">
                          <a:solidFill>
                            <a:srgbClr val="2A3641"/>
                          </a:solidFill>
                          <a:latin typeface="Calibri"/>
                        </a:defRPr>
                      </a:pPr>
                      <a:r>
                        <a:t>3</a:t>
                      </a:r>
                    </a:p>
                  </a:txBody>
                  <a:tcPr marL="64008" marR="36576" marT="22860" marB="13716">
                    <a:solidFill>
                      <a:srgbClr val="FFFFFF"/>
                    </a:solidFill>
                  </a:tcPr>
                </a:tc>
                <a:tc>
                  <a:txBody>
                    <a:bodyPr/>
                    <a:lstStyle/>
                    <a:p>
                      <a:pPr>
                        <a:defRPr sz="1200" b="0">
                          <a:solidFill>
                            <a:srgbClr val="2A3641"/>
                          </a:solidFill>
                          <a:latin typeface="Calibri"/>
                        </a:defRPr>
                      </a:pPr>
                      <a:r>
                        <a:t>1</a:t>
                      </a:r>
                    </a:p>
                  </a:txBody>
                  <a:tcPr marL="64008" marR="36576" marT="22860" marB="13716">
                    <a:solidFill>
                      <a:srgbClr val="FFFFFF"/>
                    </a:solidFill>
                  </a:tcPr>
                </a:tc>
                <a:tc>
                  <a:txBody>
                    <a:bodyPr/>
                    <a:lstStyle/>
                    <a:p>
                      <a:pPr>
                        <a:defRPr sz="1200" b="0">
                          <a:solidFill>
                            <a:srgbClr val="2A3641"/>
                          </a:solidFill>
                          <a:latin typeface="Calibri"/>
                        </a:defRPr>
                      </a:pPr>
                      <a:r>
                        <a:t>6</a:t>
                      </a:r>
                    </a:p>
                  </a:txBody>
                  <a:tcPr marL="64008" marR="36576" marT="22860" marB="13716">
                    <a:solidFill>
                      <a:srgbClr val="FFFFFF"/>
                    </a:solidFill>
                  </a:tcPr>
                </a:tc>
              </a:tr>
            </a:tbl>
          </a:graphicData>
        </a:graphic>
      </p:graphicFrame>
      <p:sp>
        <p:nvSpPr>
          <p:cNvPr id="6" name="TextBox 5"/>
          <p:cNvSpPr txBox="1"/>
          <p:nvPr/>
        </p:nvSpPr>
        <p:spPr>
          <a:xfrm>
            <a:off x="7589520" y="1280160"/>
            <a:ext cx="3840480" cy="384048"/>
          </a:xfrm>
          <a:prstGeom prst="rect">
            <a:avLst/>
          </a:prstGeom>
          <a:noFill/>
        </p:spPr>
        <p:txBody>
          <a:bodyPr wrap="square">
            <a:spAutoFit/>
          </a:bodyPr>
          <a:lstStyle/>
          <a:p>
            <a:pPr>
              <a:spcAft>
                <a:spcPts val="700"/>
              </a:spcAft>
              <a:defRPr sz="1800" b="1">
                <a:solidFill>
                  <a:srgbClr val="0E7782"/>
                </a:solidFill>
                <a:latin typeface="Calibri"/>
              </a:defRPr>
            </a:pPr>
            <a:r>
              <a:t>Units and scenario</a:t>
            </a:r>
          </a:p>
        </p:txBody>
      </p:sp>
      <p:sp>
        <p:nvSpPr>
          <p:cNvPr id="7" name="TextBox 6"/>
          <p:cNvSpPr txBox="1"/>
          <p:nvPr/>
        </p:nvSpPr>
        <p:spPr>
          <a:xfrm>
            <a:off x="7589520" y="1719072"/>
            <a:ext cx="3840480" cy="4041648"/>
          </a:xfrm>
          <a:prstGeom prst="rect">
            <a:avLst/>
          </a:prstGeom>
          <a:noFill/>
        </p:spPr>
        <p:txBody>
          <a:bodyPr wrap="square">
            <a:spAutoFit/>
          </a:bodyPr>
          <a:lstStyle/>
          <a:p>
            <a:pPr>
              <a:spcAft>
                <a:spcPts val="700"/>
              </a:spcAft>
              <a:defRPr sz="1700" b="0">
                <a:solidFill>
                  <a:srgbClr val="2A3641"/>
                </a:solidFill>
                <a:latin typeface="Calibri"/>
              </a:defRPr>
            </a:pPr>
            <a:r>
              <a:t>Delay is in ticks. Capacity is packets transmitted per tick. FIFO size is packets waiting at that directed link. In the balanced check, only SA, AD, DG and GT change capacity from 1 to 2; all delays and buffer sizes stay fixed.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Seven possible paths, with three usable main corridors</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05</a:t>
            </a:r>
          </a:p>
        </p:txBody>
      </p:sp>
      <p:graphicFrame>
        <p:nvGraphicFramePr>
          <p:cNvPr id="5" name="Table 4"/>
          <p:cNvGraphicFramePr>
            <a:graphicFrameLocks noGrp="1"/>
          </p:cNvGraphicFramePr>
          <p:nvPr/>
        </p:nvGraphicFramePr>
        <p:xfrm>
          <a:off x="685800" y="1207008"/>
          <a:ext cx="7132320" cy="4160520"/>
        </p:xfrm>
        <a:graphic>
          <a:graphicData uri="http://schemas.openxmlformats.org/drawingml/2006/table">
            <a:tbl>
              <a:tblPr firstRow="1" bandRow="1">
                <a:tableStyleId>{5C22544A-7EE6-4342-B048-85BDC9FD1C3A}</a:tableStyleId>
              </a:tblPr>
              <a:tblGrid>
                <a:gridCol w="1783080"/>
                <a:gridCol w="1783080"/>
                <a:gridCol w="1783080"/>
                <a:gridCol w="1783080"/>
              </a:tblGrid>
              <a:tr h="520065">
                <a:tc>
                  <a:txBody>
                    <a:bodyPr/>
                    <a:lstStyle/>
                    <a:p>
                      <a:pPr>
                        <a:defRPr sz="1400" b="1">
                          <a:solidFill>
                            <a:srgbClr val="FFFFFF"/>
                          </a:solidFill>
                          <a:latin typeface="Calibri"/>
                        </a:defRPr>
                      </a:pPr>
                      <a:r>
                        <a:t>No.</a:t>
                      </a:r>
                    </a:p>
                  </a:txBody>
                  <a:tcPr marL="64008" marR="36576" marT="22860" marB="13716">
                    <a:solidFill>
                      <a:srgbClr val="132D45"/>
                    </a:solidFill>
                  </a:tcPr>
                </a:tc>
                <a:tc>
                  <a:txBody>
                    <a:bodyPr/>
                    <a:lstStyle/>
                    <a:p>
                      <a:pPr>
                        <a:defRPr sz="1400" b="1">
                          <a:solidFill>
                            <a:srgbClr val="FFFFFF"/>
                          </a:solidFill>
                          <a:latin typeface="Calibri"/>
                        </a:defRPr>
                      </a:pPr>
                      <a:r>
                        <a:t>Node sequence</a:t>
                      </a:r>
                    </a:p>
                  </a:txBody>
                  <a:tcPr marL="64008" marR="36576" marT="22860" marB="13716">
                    <a:solidFill>
                      <a:srgbClr val="132D45"/>
                    </a:solidFill>
                  </a:tcPr>
                </a:tc>
                <a:tc>
                  <a:txBody>
                    <a:bodyPr/>
                    <a:lstStyle/>
                    <a:p>
                      <a:pPr>
                        <a:defRPr sz="1400" b="1">
                          <a:solidFill>
                            <a:srgbClr val="FFFFFF"/>
                          </a:solidFill>
                          <a:latin typeface="Calibri"/>
                        </a:defRPr>
                      </a:pPr>
                      <a:r>
                        <a:t>Delay cost</a:t>
                      </a:r>
                    </a:p>
                  </a:txBody>
                  <a:tcPr marL="64008" marR="36576" marT="22860" marB="13716">
                    <a:solidFill>
                      <a:srgbClr val="132D45"/>
                    </a:solidFill>
                  </a:tcPr>
                </a:tc>
                <a:tc>
                  <a:txBody>
                    <a:bodyPr/>
                    <a:lstStyle/>
                    <a:p>
                      <a:pPr>
                        <a:defRPr sz="1400" b="1">
                          <a:solidFill>
                            <a:srgbClr val="FFFFFF"/>
                          </a:solidFill>
                          <a:latin typeface="Calibri"/>
                        </a:defRPr>
                      </a:pPr>
                      <a:r>
                        <a:t>Min link capacity</a:t>
                      </a:r>
                    </a:p>
                  </a:txBody>
                  <a:tcPr marL="64008" marR="36576" marT="22860" marB="13716">
                    <a:solidFill>
                      <a:srgbClr val="132D45"/>
                    </a:solidFill>
                  </a:tcPr>
                </a:tc>
              </a:tr>
              <a:tr h="520065">
                <a:tc>
                  <a:txBody>
                    <a:bodyPr/>
                    <a:lstStyle/>
                    <a:p>
                      <a:pPr>
                        <a:defRPr sz="1400" b="0">
                          <a:solidFill>
                            <a:srgbClr val="2A3641"/>
                          </a:solidFill>
                          <a:latin typeface="Calibri"/>
                        </a:defRPr>
                      </a:pPr>
                      <a:r>
                        <a:t>1</a:t>
                      </a:r>
                    </a:p>
                  </a:txBody>
                  <a:tcPr marL="64008" marR="36576" marT="22860" marB="13716">
                    <a:solidFill>
                      <a:srgbClr val="FFFFFF"/>
                    </a:solidFill>
                  </a:tcPr>
                </a:tc>
                <a:tc>
                  <a:txBody>
                    <a:bodyPr/>
                    <a:lstStyle/>
                    <a:p>
                      <a:pPr>
                        <a:defRPr sz="1400" b="0">
                          <a:solidFill>
                            <a:srgbClr val="2A3641"/>
                          </a:solidFill>
                          <a:latin typeface="Calibri"/>
                        </a:defRPr>
                      </a:pPr>
                      <a:r>
                        <a:t>S-A-D-G-T</a:t>
                      </a:r>
                    </a:p>
                  </a:txBody>
                  <a:tcPr marL="64008" marR="36576" marT="22860" marB="13716">
                    <a:solidFill>
                      <a:srgbClr val="FFFFFF"/>
                    </a:solidFill>
                  </a:tcPr>
                </a:tc>
                <a:tc>
                  <a:txBody>
                    <a:bodyPr/>
                    <a:lstStyle/>
                    <a:p>
                      <a:pPr>
                        <a:defRPr sz="1400" b="0">
                          <a:solidFill>
                            <a:srgbClr val="2A3641"/>
                          </a:solidFill>
                          <a:latin typeface="Calibri"/>
                        </a:defRPr>
                      </a:pPr>
                      <a:r>
                        <a:t>4</a:t>
                      </a:r>
                    </a:p>
                  </a:txBody>
                  <a:tcPr marL="64008" marR="36576" marT="22860" marB="13716">
                    <a:solidFill>
                      <a:srgbClr val="FFFFFF"/>
                    </a:solidFill>
                  </a:tcPr>
                </a:tc>
                <a:tc>
                  <a:txBody>
                    <a:bodyPr/>
                    <a:lstStyle/>
                    <a:p>
                      <a:pPr>
                        <a:defRPr sz="1400" b="0">
                          <a:solidFill>
                            <a:srgbClr val="2A3641"/>
                          </a:solidFill>
                          <a:latin typeface="Calibri"/>
                        </a:defRPr>
                      </a:pPr>
                      <a:r>
                        <a:t>1</a:t>
                      </a:r>
                    </a:p>
                  </a:txBody>
                  <a:tcPr marL="64008" marR="36576" marT="22860" marB="13716">
                    <a:solidFill>
                      <a:srgbClr val="FFFFFF"/>
                    </a:solidFill>
                  </a:tcPr>
                </a:tc>
              </a:tr>
              <a:tr h="520065">
                <a:tc>
                  <a:txBody>
                    <a:bodyPr/>
                    <a:lstStyle/>
                    <a:p>
                      <a:pPr>
                        <a:defRPr sz="1400" b="0">
                          <a:solidFill>
                            <a:srgbClr val="2A3641"/>
                          </a:solidFill>
                          <a:latin typeface="Calibri"/>
                        </a:defRPr>
                      </a:pPr>
                      <a:r>
                        <a:t>2</a:t>
                      </a:r>
                    </a:p>
                  </a:txBody>
                  <a:tcPr marL="64008" marR="36576" marT="22860" marB="13716">
                    <a:solidFill>
                      <a:srgbClr val="EEF6F7"/>
                    </a:solidFill>
                  </a:tcPr>
                </a:tc>
                <a:tc>
                  <a:txBody>
                    <a:bodyPr/>
                    <a:lstStyle/>
                    <a:p>
                      <a:pPr>
                        <a:defRPr sz="1400" b="0">
                          <a:solidFill>
                            <a:srgbClr val="2A3641"/>
                          </a:solidFill>
                          <a:latin typeface="Calibri"/>
                        </a:defRPr>
                      </a:pPr>
                      <a:r>
                        <a:t>S-A-E-H-T</a:t>
                      </a:r>
                    </a:p>
                  </a:txBody>
                  <a:tcPr marL="64008" marR="36576" marT="22860" marB="13716">
                    <a:solidFill>
                      <a:srgbClr val="EEF6F7"/>
                    </a:solidFill>
                  </a:tcPr>
                </a:tc>
                <a:tc>
                  <a:txBody>
                    <a:bodyPr/>
                    <a:lstStyle/>
                    <a:p>
                      <a:pPr>
                        <a:defRPr sz="1400" b="0">
                          <a:solidFill>
                            <a:srgbClr val="2A3641"/>
                          </a:solidFill>
                          <a:latin typeface="Calibri"/>
                        </a:defRPr>
                      </a:pPr>
                      <a:r>
                        <a:t>6</a:t>
                      </a:r>
                    </a:p>
                  </a:txBody>
                  <a:tcPr marL="64008" marR="36576" marT="22860" marB="13716">
                    <a:solidFill>
                      <a:srgbClr val="EEF6F7"/>
                    </a:solidFill>
                  </a:tcPr>
                </a:tc>
                <a:tc>
                  <a:txBody>
                    <a:bodyPr/>
                    <a:lstStyle/>
                    <a:p>
                      <a:pPr>
                        <a:defRPr sz="1400" b="0">
                          <a:solidFill>
                            <a:srgbClr val="2A3641"/>
                          </a:solidFill>
                          <a:latin typeface="Calibri"/>
                        </a:defRPr>
                      </a:pPr>
                      <a:r>
                        <a:t>1</a:t>
                      </a:r>
                    </a:p>
                  </a:txBody>
                  <a:tcPr marL="64008" marR="36576" marT="22860" marB="13716">
                    <a:solidFill>
                      <a:srgbClr val="EEF6F7"/>
                    </a:solidFill>
                  </a:tcPr>
                </a:tc>
              </a:tr>
              <a:tr h="520065">
                <a:tc>
                  <a:txBody>
                    <a:bodyPr/>
                    <a:lstStyle/>
                    <a:p>
                      <a:pPr>
                        <a:defRPr sz="1400" b="0">
                          <a:solidFill>
                            <a:srgbClr val="2A3641"/>
                          </a:solidFill>
                          <a:latin typeface="Calibri"/>
                        </a:defRPr>
                      </a:pPr>
                      <a:r>
                        <a:t>3</a:t>
                      </a:r>
                    </a:p>
                  </a:txBody>
                  <a:tcPr marL="64008" marR="36576" marT="22860" marB="13716">
                    <a:solidFill>
                      <a:srgbClr val="FFFFFF"/>
                    </a:solidFill>
                  </a:tcPr>
                </a:tc>
                <a:tc>
                  <a:txBody>
                    <a:bodyPr/>
                    <a:lstStyle/>
                    <a:p>
                      <a:pPr>
                        <a:defRPr sz="1400" b="0">
                          <a:solidFill>
                            <a:srgbClr val="2A3641"/>
                          </a:solidFill>
                          <a:latin typeface="Calibri"/>
                        </a:defRPr>
                      </a:pPr>
                      <a:r>
                        <a:t>S-B-E-H-T</a:t>
                      </a:r>
                    </a:p>
                  </a:txBody>
                  <a:tcPr marL="64008" marR="36576" marT="22860" marB="13716">
                    <a:solidFill>
                      <a:srgbClr val="FFFFFF"/>
                    </a:solidFill>
                  </a:tcPr>
                </a:tc>
                <a:tc>
                  <a:txBody>
                    <a:bodyPr/>
                    <a:lstStyle/>
                    <a:p>
                      <a:pPr>
                        <a:defRPr sz="1400" b="0">
                          <a:solidFill>
                            <a:srgbClr val="2A3641"/>
                          </a:solidFill>
                          <a:latin typeface="Calibri"/>
                        </a:defRPr>
                      </a:pPr>
                      <a:r>
                        <a:t>5</a:t>
                      </a:r>
                    </a:p>
                  </a:txBody>
                  <a:tcPr marL="64008" marR="36576" marT="22860" marB="13716">
                    <a:solidFill>
                      <a:srgbClr val="FFFFFF"/>
                    </a:solidFill>
                  </a:tcPr>
                </a:tc>
                <a:tc>
                  <a:txBody>
                    <a:bodyPr/>
                    <a:lstStyle/>
                    <a:p>
                      <a:pPr>
                        <a:defRPr sz="1400" b="0">
                          <a:solidFill>
                            <a:srgbClr val="2A3641"/>
                          </a:solidFill>
                          <a:latin typeface="Calibri"/>
                        </a:defRPr>
                      </a:pPr>
                      <a:r>
                        <a:t>2</a:t>
                      </a:r>
                    </a:p>
                  </a:txBody>
                  <a:tcPr marL="64008" marR="36576" marT="22860" marB="13716">
                    <a:solidFill>
                      <a:srgbClr val="FFFFFF"/>
                    </a:solidFill>
                  </a:tcPr>
                </a:tc>
              </a:tr>
              <a:tr h="520065">
                <a:tc>
                  <a:txBody>
                    <a:bodyPr/>
                    <a:lstStyle/>
                    <a:p>
                      <a:pPr>
                        <a:defRPr sz="1400" b="0">
                          <a:solidFill>
                            <a:srgbClr val="2A3641"/>
                          </a:solidFill>
                          <a:latin typeface="Calibri"/>
                        </a:defRPr>
                      </a:pPr>
                      <a:r>
                        <a:t>4</a:t>
                      </a:r>
                    </a:p>
                  </a:txBody>
                  <a:tcPr marL="64008" marR="36576" marT="22860" marB="13716">
                    <a:solidFill>
                      <a:srgbClr val="EEF6F7"/>
                    </a:solidFill>
                  </a:tcPr>
                </a:tc>
                <a:tc>
                  <a:txBody>
                    <a:bodyPr/>
                    <a:lstStyle/>
                    <a:p>
                      <a:pPr>
                        <a:defRPr sz="1400" b="0">
                          <a:solidFill>
                            <a:srgbClr val="2A3641"/>
                          </a:solidFill>
                          <a:latin typeface="Calibri"/>
                        </a:defRPr>
                      </a:pPr>
                      <a:r>
                        <a:t>S-B-D-G-T</a:t>
                      </a:r>
                    </a:p>
                  </a:txBody>
                  <a:tcPr marL="64008" marR="36576" marT="22860" marB="13716">
                    <a:solidFill>
                      <a:srgbClr val="EEF6F7"/>
                    </a:solidFill>
                  </a:tcPr>
                </a:tc>
                <a:tc>
                  <a:txBody>
                    <a:bodyPr/>
                    <a:lstStyle/>
                    <a:p>
                      <a:pPr>
                        <a:defRPr sz="1400" b="0">
                          <a:solidFill>
                            <a:srgbClr val="2A3641"/>
                          </a:solidFill>
                          <a:latin typeface="Calibri"/>
                        </a:defRPr>
                      </a:pPr>
                      <a:r>
                        <a:t>7</a:t>
                      </a:r>
                    </a:p>
                  </a:txBody>
                  <a:tcPr marL="64008" marR="36576" marT="22860" marB="13716">
                    <a:solidFill>
                      <a:srgbClr val="EEF6F7"/>
                    </a:solidFill>
                  </a:tcPr>
                </a:tc>
                <a:tc>
                  <a:txBody>
                    <a:bodyPr/>
                    <a:lstStyle/>
                    <a:p>
                      <a:pPr>
                        <a:defRPr sz="1400" b="0">
                          <a:solidFill>
                            <a:srgbClr val="2A3641"/>
                          </a:solidFill>
                          <a:latin typeface="Calibri"/>
                        </a:defRPr>
                      </a:pPr>
                      <a:r>
                        <a:t>1</a:t>
                      </a:r>
                    </a:p>
                  </a:txBody>
                  <a:tcPr marL="64008" marR="36576" marT="22860" marB="13716">
                    <a:solidFill>
                      <a:srgbClr val="EEF6F7"/>
                    </a:solidFill>
                  </a:tcPr>
                </a:tc>
              </a:tr>
              <a:tr h="520065">
                <a:tc>
                  <a:txBody>
                    <a:bodyPr/>
                    <a:lstStyle/>
                    <a:p>
                      <a:pPr>
                        <a:defRPr sz="1400" b="0">
                          <a:solidFill>
                            <a:srgbClr val="2A3641"/>
                          </a:solidFill>
                          <a:latin typeface="Calibri"/>
                        </a:defRPr>
                      </a:pPr>
                      <a:r>
                        <a:t>5</a:t>
                      </a:r>
                    </a:p>
                  </a:txBody>
                  <a:tcPr marL="64008" marR="36576" marT="22860" marB="13716">
                    <a:solidFill>
                      <a:srgbClr val="FFFFFF"/>
                    </a:solidFill>
                  </a:tcPr>
                </a:tc>
                <a:tc>
                  <a:txBody>
                    <a:bodyPr/>
                    <a:lstStyle/>
                    <a:p>
                      <a:pPr>
                        <a:defRPr sz="1400" b="0">
                          <a:solidFill>
                            <a:srgbClr val="2A3641"/>
                          </a:solidFill>
                          <a:latin typeface="Calibri"/>
                        </a:defRPr>
                      </a:pPr>
                      <a:r>
                        <a:t>S-C-F-T</a:t>
                      </a:r>
                    </a:p>
                  </a:txBody>
                  <a:tcPr marL="64008" marR="36576" marT="22860" marB="13716">
                    <a:solidFill>
                      <a:srgbClr val="FFFFFF"/>
                    </a:solidFill>
                  </a:tcPr>
                </a:tc>
                <a:tc>
                  <a:txBody>
                    <a:bodyPr/>
                    <a:lstStyle/>
                    <a:p>
                      <a:pPr>
                        <a:defRPr sz="1400" b="0">
                          <a:solidFill>
                            <a:srgbClr val="2A3641"/>
                          </a:solidFill>
                          <a:latin typeface="Calibri"/>
                        </a:defRPr>
                      </a:pPr>
                      <a:r>
                        <a:t>6</a:t>
                      </a:r>
                    </a:p>
                  </a:txBody>
                  <a:tcPr marL="64008" marR="36576" marT="22860" marB="13716">
                    <a:solidFill>
                      <a:srgbClr val="FFFFFF"/>
                    </a:solidFill>
                  </a:tcPr>
                </a:tc>
                <a:tc>
                  <a:txBody>
                    <a:bodyPr/>
                    <a:lstStyle/>
                    <a:p>
                      <a:pPr>
                        <a:defRPr sz="1400" b="0">
                          <a:solidFill>
                            <a:srgbClr val="2A3641"/>
                          </a:solidFill>
                          <a:latin typeface="Calibri"/>
                        </a:defRPr>
                      </a:pPr>
                      <a:r>
                        <a:t>3</a:t>
                      </a:r>
                    </a:p>
                  </a:txBody>
                  <a:tcPr marL="64008" marR="36576" marT="22860" marB="13716">
                    <a:solidFill>
                      <a:srgbClr val="FFFFFF"/>
                    </a:solidFill>
                  </a:tcPr>
                </a:tc>
              </a:tr>
              <a:tr h="520065">
                <a:tc>
                  <a:txBody>
                    <a:bodyPr/>
                    <a:lstStyle/>
                    <a:p>
                      <a:pPr>
                        <a:defRPr sz="1400" b="0">
                          <a:solidFill>
                            <a:srgbClr val="2A3641"/>
                          </a:solidFill>
                          <a:latin typeface="Calibri"/>
                        </a:defRPr>
                      </a:pPr>
                      <a:r>
                        <a:t>6</a:t>
                      </a:r>
                    </a:p>
                  </a:txBody>
                  <a:tcPr marL="64008" marR="36576" marT="22860" marB="13716">
                    <a:solidFill>
                      <a:srgbClr val="EEF6F7"/>
                    </a:solidFill>
                  </a:tcPr>
                </a:tc>
                <a:tc>
                  <a:txBody>
                    <a:bodyPr/>
                    <a:lstStyle/>
                    <a:p>
                      <a:pPr>
                        <a:defRPr sz="1400" b="0">
                          <a:solidFill>
                            <a:srgbClr val="2A3641"/>
                          </a:solidFill>
                          <a:latin typeface="Calibri"/>
                        </a:defRPr>
                      </a:pPr>
                      <a:r>
                        <a:t>S-C-F-H-T</a:t>
                      </a:r>
                    </a:p>
                  </a:txBody>
                  <a:tcPr marL="64008" marR="36576" marT="22860" marB="13716">
                    <a:solidFill>
                      <a:srgbClr val="EEF6F7"/>
                    </a:solidFill>
                  </a:tcPr>
                </a:tc>
                <a:tc>
                  <a:txBody>
                    <a:bodyPr/>
                    <a:lstStyle/>
                    <a:p>
                      <a:pPr>
                        <a:defRPr sz="1400" b="0">
                          <a:solidFill>
                            <a:srgbClr val="2A3641"/>
                          </a:solidFill>
                          <a:latin typeface="Calibri"/>
                        </a:defRPr>
                      </a:pPr>
                      <a:r>
                        <a:t>8</a:t>
                      </a:r>
                    </a:p>
                  </a:txBody>
                  <a:tcPr marL="64008" marR="36576" marT="22860" marB="13716">
                    <a:solidFill>
                      <a:srgbClr val="EEF6F7"/>
                    </a:solidFill>
                  </a:tcPr>
                </a:tc>
                <a:tc>
                  <a:txBody>
                    <a:bodyPr/>
                    <a:lstStyle/>
                    <a:p>
                      <a:pPr>
                        <a:defRPr sz="1400" b="0">
                          <a:solidFill>
                            <a:srgbClr val="2A3641"/>
                          </a:solidFill>
                          <a:latin typeface="Calibri"/>
                        </a:defRPr>
                      </a:pPr>
                      <a:r>
                        <a:t>1</a:t>
                      </a:r>
                    </a:p>
                  </a:txBody>
                  <a:tcPr marL="64008" marR="36576" marT="22860" marB="13716">
                    <a:solidFill>
                      <a:srgbClr val="EEF6F7"/>
                    </a:solidFill>
                  </a:tcPr>
                </a:tc>
              </a:tr>
              <a:tr h="520065">
                <a:tc>
                  <a:txBody>
                    <a:bodyPr/>
                    <a:lstStyle/>
                    <a:p>
                      <a:pPr>
                        <a:defRPr sz="1400" b="0">
                          <a:solidFill>
                            <a:srgbClr val="2A3641"/>
                          </a:solidFill>
                          <a:latin typeface="Calibri"/>
                        </a:defRPr>
                      </a:pPr>
                      <a:r>
                        <a:t>7</a:t>
                      </a:r>
                    </a:p>
                  </a:txBody>
                  <a:tcPr marL="64008" marR="36576" marT="22860" marB="13716">
                    <a:solidFill>
                      <a:srgbClr val="FFFFFF"/>
                    </a:solidFill>
                  </a:tcPr>
                </a:tc>
                <a:tc>
                  <a:txBody>
                    <a:bodyPr/>
                    <a:lstStyle/>
                    <a:p>
                      <a:pPr>
                        <a:defRPr sz="1400" b="0">
                          <a:solidFill>
                            <a:srgbClr val="2A3641"/>
                          </a:solidFill>
                          <a:latin typeface="Calibri"/>
                        </a:defRPr>
                      </a:pPr>
                      <a:r>
                        <a:t>S-C-E-H-T</a:t>
                      </a:r>
                    </a:p>
                  </a:txBody>
                  <a:tcPr marL="64008" marR="36576" marT="22860" marB="13716">
                    <a:solidFill>
                      <a:srgbClr val="FFFFFF"/>
                    </a:solidFill>
                  </a:tcPr>
                </a:tc>
                <a:tc>
                  <a:txBody>
                    <a:bodyPr/>
                    <a:lstStyle/>
                    <a:p>
                      <a:pPr>
                        <a:defRPr sz="1400" b="0">
                          <a:solidFill>
                            <a:srgbClr val="2A3641"/>
                          </a:solidFill>
                          <a:latin typeface="Calibri"/>
                        </a:defRPr>
                      </a:pPr>
                      <a:r>
                        <a:t>7</a:t>
                      </a:r>
                    </a:p>
                  </a:txBody>
                  <a:tcPr marL="64008" marR="36576" marT="22860" marB="13716">
                    <a:solidFill>
                      <a:srgbClr val="FFFFFF"/>
                    </a:solidFill>
                  </a:tcPr>
                </a:tc>
                <a:tc>
                  <a:txBody>
                    <a:bodyPr/>
                    <a:lstStyle/>
                    <a:p>
                      <a:pPr>
                        <a:defRPr sz="1400" b="0">
                          <a:solidFill>
                            <a:srgbClr val="2A3641"/>
                          </a:solidFill>
                          <a:latin typeface="Calibri"/>
                        </a:defRPr>
                      </a:pPr>
                      <a:r>
                        <a:t>1</a:t>
                      </a:r>
                    </a:p>
                  </a:txBody>
                  <a:tcPr marL="64008" marR="36576" marT="22860" marB="13716">
                    <a:solidFill>
                      <a:srgbClr val="FFFFFF"/>
                    </a:solidFill>
                  </a:tcPr>
                </a:tc>
              </a:tr>
            </a:tbl>
          </a:graphicData>
        </a:graphic>
      </p:graphicFrame>
      <p:sp>
        <p:nvSpPr>
          <p:cNvPr id="6" name="TextBox 5"/>
          <p:cNvSpPr txBox="1"/>
          <p:nvPr/>
        </p:nvSpPr>
        <p:spPr>
          <a:xfrm>
            <a:off x="8046720" y="1417320"/>
            <a:ext cx="3291840" cy="384048"/>
          </a:xfrm>
          <a:prstGeom prst="rect">
            <a:avLst/>
          </a:prstGeom>
          <a:noFill/>
        </p:spPr>
        <p:txBody>
          <a:bodyPr wrap="square">
            <a:spAutoFit/>
          </a:bodyPr>
          <a:lstStyle/>
          <a:p>
            <a:pPr>
              <a:spcAft>
                <a:spcPts val="700"/>
              </a:spcAft>
              <a:defRPr sz="1800" b="1">
                <a:solidFill>
                  <a:srgbClr val="0E7782"/>
                </a:solidFill>
                <a:latin typeface="Calibri"/>
              </a:defRPr>
            </a:pPr>
            <a:r>
              <a:t>Reading this table</a:t>
            </a:r>
          </a:p>
        </p:txBody>
      </p:sp>
      <p:sp>
        <p:nvSpPr>
          <p:cNvPr id="7" name="TextBox 6"/>
          <p:cNvSpPr txBox="1"/>
          <p:nvPr/>
        </p:nvSpPr>
        <p:spPr>
          <a:xfrm>
            <a:off x="8046720" y="1856232"/>
            <a:ext cx="3291840" cy="3767327"/>
          </a:xfrm>
          <a:prstGeom prst="rect">
            <a:avLst/>
          </a:prstGeom>
          <a:noFill/>
        </p:spPr>
        <p:txBody>
          <a:bodyPr wrap="square">
            <a:spAutoFit/>
          </a:bodyPr>
          <a:lstStyle/>
          <a:p>
            <a:pPr>
              <a:spcAft>
                <a:spcPts val="700"/>
              </a:spcAft>
              <a:defRPr sz="1700" b="0">
                <a:solidFill>
                  <a:srgbClr val="2A3641"/>
                </a:solidFill>
                <a:latin typeface="Calibri"/>
              </a:defRPr>
            </a:pPr>
            <a:r>
              <a:t>The fixed cost is the sum of link delays. The last column is the narrowest link on that path. Cross paths share links with the main corridors, so seven paths do not mean seven independent channels. The final queue-aware runs selected the three main corridors.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Packet flow and Python program structure</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06</a:t>
            </a:r>
          </a:p>
        </p:txBody>
      </p:sp>
      <p:sp>
        <p:nvSpPr>
          <p:cNvPr id="5" name="TextBox 4"/>
          <p:cNvSpPr txBox="1"/>
          <p:nvPr/>
        </p:nvSpPr>
        <p:spPr>
          <a:xfrm>
            <a:off x="658368" y="1216152"/>
            <a:ext cx="5303520" cy="384048"/>
          </a:xfrm>
          <a:prstGeom prst="rect">
            <a:avLst/>
          </a:prstGeom>
          <a:noFill/>
        </p:spPr>
        <p:txBody>
          <a:bodyPr wrap="square">
            <a:spAutoFit/>
          </a:bodyPr>
          <a:lstStyle/>
          <a:p>
            <a:pPr>
              <a:spcAft>
                <a:spcPts val="700"/>
              </a:spcAft>
              <a:defRPr sz="1800" b="1">
                <a:solidFill>
                  <a:srgbClr val="0E7782"/>
                </a:solidFill>
                <a:latin typeface="Calibri"/>
              </a:defRPr>
            </a:pPr>
            <a:r>
              <a:t>One packet’s journey</a:t>
            </a:r>
          </a:p>
        </p:txBody>
      </p:sp>
      <p:sp>
        <p:nvSpPr>
          <p:cNvPr id="6" name="TextBox 5"/>
          <p:cNvSpPr txBox="1"/>
          <p:nvPr/>
        </p:nvSpPr>
        <p:spPr>
          <a:xfrm>
            <a:off x="658368" y="1655064"/>
            <a:ext cx="5303520" cy="4087368"/>
          </a:xfrm>
          <a:prstGeom prst="rect">
            <a:avLst/>
          </a:prstGeom>
          <a:noFill/>
        </p:spPr>
        <p:txBody>
          <a:bodyPr wrap="square">
            <a:spAutoFit/>
          </a:bodyPr>
          <a:lstStyle/>
          <a:p>
            <a:pPr>
              <a:spcAft>
                <a:spcPts val="700"/>
              </a:spcAft>
              <a:defRPr sz="1700" b="0">
                <a:solidFill>
                  <a:srgbClr val="2A3641"/>
                </a:solidFill>
                <a:latin typeface="Calibri"/>
              </a:defRPr>
            </a:pPr>
            <a:r>
              <a:t>At S, a packet receives a complete route and enters its first finite FIFO queue. Each tick, a link serves up to its capacity. The packet then spends its propagation delay in flight. At each next hop it joins the next queue or is dropped if that queue is full. Delivery at T ends its delay measurement.</a:t>
            </a:r>
          </a:p>
        </p:txBody>
      </p:sp>
      <p:sp>
        <p:nvSpPr>
          <p:cNvPr id="7" name="TextBox 6"/>
          <p:cNvSpPr txBox="1"/>
          <p:nvPr/>
        </p:nvSpPr>
        <p:spPr>
          <a:xfrm>
            <a:off x="6163056" y="1216152"/>
            <a:ext cx="5303520" cy="384048"/>
          </a:xfrm>
          <a:prstGeom prst="rect">
            <a:avLst/>
          </a:prstGeom>
          <a:noFill/>
        </p:spPr>
        <p:txBody>
          <a:bodyPr wrap="square">
            <a:spAutoFit/>
          </a:bodyPr>
          <a:lstStyle/>
          <a:p>
            <a:pPr>
              <a:spcAft>
                <a:spcPts val="700"/>
              </a:spcAft>
              <a:defRPr sz="1800" b="1">
                <a:solidFill>
                  <a:srgbClr val="0E7782"/>
                </a:solidFill>
                <a:latin typeface="Calibri"/>
              </a:defRPr>
            </a:pPr>
            <a:r>
              <a:t>Where this happens in code</a:t>
            </a:r>
          </a:p>
        </p:txBody>
      </p:sp>
      <p:sp>
        <p:nvSpPr>
          <p:cNvPr id="8" name="TextBox 7"/>
          <p:cNvSpPr txBox="1"/>
          <p:nvPr/>
        </p:nvSpPr>
        <p:spPr>
          <a:xfrm>
            <a:off x="6163056" y="1655064"/>
            <a:ext cx="5303520" cy="4087368"/>
          </a:xfrm>
          <a:prstGeom prst="rect">
            <a:avLst/>
          </a:prstGeom>
          <a:noFill/>
        </p:spPr>
        <p:txBody>
          <a:bodyPr wrap="square">
            <a:spAutoFit/>
          </a:bodyPr>
          <a:lstStyle/>
          <a:p>
            <a:pPr>
              <a:spcAft>
                <a:spcPts val="700"/>
              </a:spcAft>
              <a:defRPr sz="1700" b="0">
                <a:solidFill>
                  <a:srgbClr val="2A3641"/>
                </a:solidFill>
                <a:latin typeface="Calibri"/>
              </a:defRPr>
            </a:pPr>
            <a:r>
              <a:t>Packet stores creation tick, route and position. Link stores endpoints, delay, capacity, buffer, FIFO queue and in-flight packets. Network builds the adjacency list. shortest_route runs Dijkstra; run advances ticks and checks packet conservation. main writes the per-run CSV, means and graphs.</a:t>
            </a:r>
          </a:p>
        </p:txBody>
      </p:sp>
      <p:sp>
        <p:nvSpPr>
          <p:cNvPr id="9" name="TextBox 8"/>
          <p:cNvSpPr txBox="1"/>
          <p:nvPr/>
        </p:nvSpPr>
        <p:spPr>
          <a:xfrm>
            <a:off x="713232" y="5806440"/>
            <a:ext cx="10698480" cy="384048"/>
          </a:xfrm>
          <a:prstGeom prst="rect">
            <a:avLst/>
          </a:prstGeom>
          <a:noFill/>
        </p:spPr>
        <p:txBody>
          <a:bodyPr wrap="square">
            <a:spAutoFit/>
          </a:bodyPr>
          <a:lstStyle/>
          <a:p>
            <a:pPr>
              <a:spcAft>
                <a:spcPts val="700"/>
              </a:spcAft>
              <a:defRPr sz="1500" b="1">
                <a:solidFill>
                  <a:srgbClr val="0E7782"/>
                </a:solidFill>
                <a:latin typeface="Calibri"/>
              </a:defRPr>
            </a:pPr>
            <a:r>
              <a:t>Invariant checked every run: generated = delivered + dropped + still waiting or in flight.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How the link weight changes when a queue builds</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07</a:t>
            </a:r>
          </a:p>
        </p:txBody>
      </p:sp>
      <p:sp>
        <p:nvSpPr>
          <p:cNvPr id="5" name="TextBox 4"/>
          <p:cNvSpPr txBox="1"/>
          <p:nvPr/>
        </p:nvSpPr>
        <p:spPr>
          <a:xfrm>
            <a:off x="758952" y="1234440"/>
            <a:ext cx="10698480" cy="749808"/>
          </a:xfrm>
          <a:prstGeom prst="rect">
            <a:avLst/>
          </a:prstGeom>
          <a:noFill/>
        </p:spPr>
        <p:txBody>
          <a:bodyPr wrap="square">
            <a:spAutoFit/>
          </a:bodyPr>
          <a:lstStyle/>
          <a:p>
            <a:pPr>
              <a:spcAft>
                <a:spcPts val="700"/>
              </a:spcAft>
              <a:defRPr sz="2500" b="1">
                <a:solidFill>
                  <a:srgbClr val="132D45"/>
                </a:solidFill>
                <a:latin typeface="Calibri"/>
              </a:defRPr>
            </a:pPr>
            <a:r>
              <a:t>Fixed weight: w = d                         Queue-aware weight: w = d × (1 + 2.5q/B)</a:t>
            </a:r>
          </a:p>
        </p:txBody>
      </p:sp>
      <p:sp>
        <p:nvSpPr>
          <p:cNvPr id="6" name="TextBox 5"/>
          <p:cNvSpPr txBox="1"/>
          <p:nvPr/>
        </p:nvSpPr>
        <p:spPr>
          <a:xfrm>
            <a:off x="768096" y="2423160"/>
            <a:ext cx="5166360" cy="384048"/>
          </a:xfrm>
          <a:prstGeom prst="rect">
            <a:avLst/>
          </a:prstGeom>
          <a:noFill/>
        </p:spPr>
        <p:txBody>
          <a:bodyPr wrap="square">
            <a:spAutoFit/>
          </a:bodyPr>
          <a:lstStyle/>
          <a:p>
            <a:pPr>
              <a:spcAft>
                <a:spcPts val="700"/>
              </a:spcAft>
              <a:defRPr sz="1800" b="1">
                <a:solidFill>
                  <a:srgbClr val="0E7782"/>
                </a:solidFill>
                <a:latin typeface="Calibri"/>
              </a:defRPr>
            </a:pPr>
            <a:r>
              <a:t>Meaning of the variables</a:t>
            </a:r>
          </a:p>
        </p:txBody>
      </p:sp>
      <p:sp>
        <p:nvSpPr>
          <p:cNvPr id="7" name="TextBox 6"/>
          <p:cNvSpPr txBox="1"/>
          <p:nvPr/>
        </p:nvSpPr>
        <p:spPr>
          <a:xfrm>
            <a:off x="768096" y="2862072"/>
            <a:ext cx="5166360" cy="2852928"/>
          </a:xfrm>
          <a:prstGeom prst="rect">
            <a:avLst/>
          </a:prstGeom>
          <a:noFill/>
        </p:spPr>
        <p:txBody>
          <a:bodyPr wrap="square">
            <a:spAutoFit/>
          </a:bodyPr>
          <a:lstStyle/>
          <a:p>
            <a:pPr>
              <a:spcAft>
                <a:spcPts val="700"/>
              </a:spcAft>
              <a:defRPr sz="1700" b="0">
                <a:solidFill>
                  <a:srgbClr val="2A3641"/>
                </a:solidFill>
                <a:latin typeface="Calibri"/>
              </a:defRPr>
            </a:pPr>
            <a:r>
              <a:t>d is propagation delay. q is the peak number of packets waiting during the preceding five-tick interval. B is that link’s FIFO size. In-flight packets do not count as q. The route is recalculated every five ticks and cached between updates.</a:t>
            </a:r>
          </a:p>
        </p:txBody>
      </p:sp>
      <p:sp>
        <p:nvSpPr>
          <p:cNvPr id="8" name="TextBox 7"/>
          <p:cNvSpPr txBox="1"/>
          <p:nvPr/>
        </p:nvSpPr>
        <p:spPr>
          <a:xfrm>
            <a:off x="6144768" y="2423160"/>
            <a:ext cx="5166360" cy="384048"/>
          </a:xfrm>
          <a:prstGeom prst="rect">
            <a:avLst/>
          </a:prstGeom>
          <a:noFill/>
        </p:spPr>
        <p:txBody>
          <a:bodyPr wrap="square">
            <a:spAutoFit/>
          </a:bodyPr>
          <a:lstStyle/>
          <a:p>
            <a:pPr>
              <a:spcAft>
                <a:spcPts val="700"/>
              </a:spcAft>
              <a:defRPr sz="1800" b="1">
                <a:solidFill>
                  <a:srgbClr val="0E7782"/>
                </a:solidFill>
                <a:latin typeface="Calibri"/>
              </a:defRPr>
            </a:pPr>
            <a:r>
              <a:t>Worked SA example</a:t>
            </a:r>
          </a:p>
        </p:txBody>
      </p:sp>
      <p:sp>
        <p:nvSpPr>
          <p:cNvPr id="9" name="TextBox 8"/>
          <p:cNvSpPr txBox="1"/>
          <p:nvPr/>
        </p:nvSpPr>
        <p:spPr>
          <a:xfrm>
            <a:off x="6144768" y="2862072"/>
            <a:ext cx="5166360" cy="2852928"/>
          </a:xfrm>
          <a:prstGeom prst="rect">
            <a:avLst/>
          </a:prstGeom>
          <a:noFill/>
        </p:spPr>
        <p:txBody>
          <a:bodyPr wrap="square">
            <a:spAutoFit/>
          </a:bodyPr>
          <a:lstStyle/>
          <a:p>
            <a:pPr>
              <a:spcAft>
                <a:spcPts val="700"/>
              </a:spcAft>
              <a:defRPr sz="1700" b="0">
                <a:solidFill>
                  <a:srgbClr val="2A3641"/>
                </a:solidFill>
                <a:latin typeface="Calibri"/>
              </a:defRPr>
            </a:pPr>
            <a:r>
              <a:t>SA has d=1 and B=6. If its observed q=3, its weight becomes 1 × (1 + 2.5 × 3/6) = 2.25. If the other upper links stay at weight 1, upper-route cost becomes 5.25. The middle route at cost 5 then wins.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Fair comparison across two scenarios and nine loads</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08</a:t>
            </a:r>
          </a:p>
        </p:txBody>
      </p:sp>
      <p:sp>
        <p:nvSpPr>
          <p:cNvPr id="5" name="TextBox 4"/>
          <p:cNvSpPr txBox="1"/>
          <p:nvPr/>
        </p:nvSpPr>
        <p:spPr>
          <a:xfrm>
            <a:off x="685800" y="1225296"/>
            <a:ext cx="5257800" cy="384048"/>
          </a:xfrm>
          <a:prstGeom prst="rect">
            <a:avLst/>
          </a:prstGeom>
          <a:noFill/>
        </p:spPr>
        <p:txBody>
          <a:bodyPr wrap="square">
            <a:spAutoFit/>
          </a:bodyPr>
          <a:lstStyle/>
          <a:p>
            <a:pPr>
              <a:spcAft>
                <a:spcPts val="700"/>
              </a:spcAft>
              <a:defRPr sz="1800" b="1">
                <a:solidFill>
                  <a:srgbClr val="0E7782"/>
                </a:solidFill>
                <a:latin typeface="Calibri"/>
              </a:defRPr>
            </a:pPr>
            <a:r>
              <a:t>Experiment controls</a:t>
            </a:r>
          </a:p>
        </p:txBody>
      </p:sp>
      <p:sp>
        <p:nvSpPr>
          <p:cNvPr id="6" name="TextBox 5"/>
          <p:cNvSpPr txBox="1"/>
          <p:nvPr/>
        </p:nvSpPr>
        <p:spPr>
          <a:xfrm>
            <a:off x="685800" y="1664208"/>
            <a:ext cx="5257800" cy="4041648"/>
          </a:xfrm>
          <a:prstGeom prst="rect">
            <a:avLst/>
          </a:prstGeom>
          <a:noFill/>
        </p:spPr>
        <p:txBody>
          <a:bodyPr wrap="square">
            <a:spAutoFit/>
          </a:bodyPr>
          <a:lstStyle/>
          <a:p>
            <a:pPr>
              <a:spcAft>
                <a:spcPts val="700"/>
              </a:spcAft>
              <a:defRPr sz="1700" b="0">
                <a:solidFill>
                  <a:srgbClr val="2A3641"/>
                </a:solidFill>
                <a:latin typeface="Calibri"/>
              </a:defRPr>
            </a:pPr>
            <a:r>
              <a:t>Loads are 0.5, 0.8, 1.0, 1.2, 1.5, 2.0, 2.5, 3.0 and 3.5 offered packets/tick. Ten matched seeds and 5,000 ticks give 180 runs in the bottleneck topology. The balanced-capacity topology adds 180 more. Each pair uses identical generated arrivals.</a:t>
            </a:r>
          </a:p>
        </p:txBody>
      </p:sp>
      <p:sp>
        <p:nvSpPr>
          <p:cNvPr id="7" name="TextBox 6"/>
          <p:cNvSpPr txBox="1"/>
          <p:nvPr/>
        </p:nvSpPr>
        <p:spPr>
          <a:xfrm>
            <a:off x="6153912" y="1225296"/>
            <a:ext cx="5257800" cy="384048"/>
          </a:xfrm>
          <a:prstGeom prst="rect">
            <a:avLst/>
          </a:prstGeom>
          <a:noFill/>
        </p:spPr>
        <p:txBody>
          <a:bodyPr wrap="square">
            <a:spAutoFit/>
          </a:bodyPr>
          <a:lstStyle/>
          <a:p>
            <a:pPr>
              <a:spcAft>
                <a:spcPts val="700"/>
              </a:spcAft>
              <a:defRPr sz="1800" b="1">
                <a:solidFill>
                  <a:srgbClr val="0E7782"/>
                </a:solidFill>
                <a:latin typeface="Calibri"/>
              </a:defRPr>
            </a:pPr>
            <a:r>
              <a:t>Metric definitions</a:t>
            </a:r>
          </a:p>
        </p:txBody>
      </p:sp>
      <p:sp>
        <p:nvSpPr>
          <p:cNvPr id="8" name="TextBox 7"/>
          <p:cNvSpPr txBox="1"/>
          <p:nvPr/>
        </p:nvSpPr>
        <p:spPr>
          <a:xfrm>
            <a:off x="6153912" y="1664208"/>
            <a:ext cx="5257800" cy="4041648"/>
          </a:xfrm>
          <a:prstGeom prst="rect">
            <a:avLst/>
          </a:prstGeom>
          <a:noFill/>
        </p:spPr>
        <p:txBody>
          <a:bodyPr wrap="square">
            <a:spAutoFit/>
          </a:bodyPr>
          <a:lstStyle/>
          <a:p>
            <a:pPr>
              <a:spcAft>
                <a:spcPts val="700"/>
              </a:spcAft>
              <a:defRPr sz="1700" b="0">
                <a:solidFill>
                  <a:srgbClr val="2A3641"/>
                </a:solidFill>
                <a:latin typeface="Calibri"/>
              </a:defRPr>
            </a:pPr>
            <a:r>
              <a:t>Delay: mean creation-to-delivery time among delivered packets. Loss: dropped/generated. Throughput: delivered/5,000 ticks. Route changes: switches between routes assigned to consecutive packets. Route counts verify which corridors actually carried assigned traffic. Each graph point is a ten-run mean.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Delay: when the short path congests</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09</a:t>
            </a:r>
          </a:p>
        </p:txBody>
      </p:sp>
      <p:pic>
        <p:nvPicPr>
          <p:cNvPr id="5" name="Picture 4" descr="avg_delay.png"/>
          <p:cNvPicPr>
            <a:picLocks noChangeAspect="1"/>
          </p:cNvPicPr>
          <p:nvPr/>
        </p:nvPicPr>
        <p:blipFill>
          <a:blip r:embed="rId2"/>
          <a:stretch>
            <a:fillRect/>
          </a:stretch>
        </p:blipFill>
        <p:spPr>
          <a:xfrm>
            <a:off x="594360" y="1705356"/>
            <a:ext cx="6858000" cy="4114800"/>
          </a:xfrm>
          <a:prstGeom prst="rect">
            <a:avLst/>
          </a:prstGeom>
        </p:spPr>
      </p:pic>
      <p:sp>
        <p:nvSpPr>
          <p:cNvPr id="6" name="TextBox 5"/>
          <p:cNvSpPr txBox="1"/>
          <p:nvPr/>
        </p:nvSpPr>
        <p:spPr>
          <a:xfrm>
            <a:off x="7635240" y="1481328"/>
            <a:ext cx="3794760" cy="384048"/>
          </a:xfrm>
          <a:prstGeom prst="rect">
            <a:avLst/>
          </a:prstGeom>
          <a:noFill/>
        </p:spPr>
        <p:txBody>
          <a:bodyPr wrap="square">
            <a:spAutoFit/>
          </a:bodyPr>
          <a:lstStyle/>
          <a:p>
            <a:pPr>
              <a:spcAft>
                <a:spcPts val="700"/>
              </a:spcAft>
              <a:defRPr sz="1800" b="1">
                <a:solidFill>
                  <a:srgbClr val="0E7782"/>
                </a:solidFill>
                <a:latin typeface="Calibri"/>
              </a:defRPr>
            </a:pPr>
            <a:r>
              <a:t>What the measurement says</a:t>
            </a:r>
          </a:p>
        </p:txBody>
      </p:sp>
      <p:sp>
        <p:nvSpPr>
          <p:cNvPr id="7" name="TextBox 6"/>
          <p:cNvSpPr txBox="1"/>
          <p:nvPr/>
        </p:nvSpPr>
        <p:spPr>
          <a:xfrm>
            <a:off x="7635240" y="1920240"/>
            <a:ext cx="3794760" cy="4041648"/>
          </a:xfrm>
          <a:prstGeom prst="rect">
            <a:avLst/>
          </a:prstGeom>
          <a:noFill/>
        </p:spPr>
        <p:txBody>
          <a:bodyPr wrap="square">
            <a:spAutoFit/>
          </a:bodyPr>
          <a:lstStyle/>
          <a:p>
            <a:pPr>
              <a:spcAft>
                <a:spcPts val="700"/>
              </a:spcAft>
              <a:defRPr sz="1700" b="0">
                <a:solidFill>
                  <a:srgbClr val="2A3641"/>
                </a:solidFill>
                <a:latin typeface="Calibri"/>
              </a:defRPr>
            </a:pPr>
            <a:r>
              <a:t>Up to load 1.0, neither method builds a waiting queue and delays match. At load 1.2, fixed delay is 9.983 ticks while queue-aware delay is 5.963. A packet on a longer physical route can still arrive sooner than one waiting behind a saturated bottleneck.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Loss: the benefit has a limit</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10</a:t>
            </a:r>
          </a:p>
        </p:txBody>
      </p:sp>
      <p:pic>
        <p:nvPicPr>
          <p:cNvPr id="5" name="Picture 4" descr="loss_ratio.png"/>
          <p:cNvPicPr>
            <a:picLocks noChangeAspect="1"/>
          </p:cNvPicPr>
          <p:nvPr/>
        </p:nvPicPr>
        <p:blipFill>
          <a:blip r:embed="rId2"/>
          <a:stretch>
            <a:fillRect/>
          </a:stretch>
        </p:blipFill>
        <p:spPr>
          <a:xfrm>
            <a:off x="594360" y="1705356"/>
            <a:ext cx="6858000" cy="4114800"/>
          </a:xfrm>
          <a:prstGeom prst="rect">
            <a:avLst/>
          </a:prstGeom>
        </p:spPr>
      </p:pic>
      <p:sp>
        <p:nvSpPr>
          <p:cNvPr id="6" name="TextBox 5"/>
          <p:cNvSpPr txBox="1"/>
          <p:nvPr/>
        </p:nvSpPr>
        <p:spPr>
          <a:xfrm>
            <a:off x="7635240" y="1481328"/>
            <a:ext cx="3794760" cy="384048"/>
          </a:xfrm>
          <a:prstGeom prst="rect">
            <a:avLst/>
          </a:prstGeom>
          <a:noFill/>
        </p:spPr>
        <p:txBody>
          <a:bodyPr wrap="square">
            <a:spAutoFit/>
          </a:bodyPr>
          <a:lstStyle/>
          <a:p>
            <a:pPr>
              <a:spcAft>
                <a:spcPts val="700"/>
              </a:spcAft>
              <a:defRPr sz="1800" b="1">
                <a:solidFill>
                  <a:srgbClr val="0E7782"/>
                </a:solidFill>
                <a:latin typeface="Calibri"/>
              </a:defRPr>
            </a:pPr>
            <a:r>
              <a:t>What the measurement says</a:t>
            </a:r>
          </a:p>
        </p:txBody>
      </p:sp>
      <p:sp>
        <p:nvSpPr>
          <p:cNvPr id="7" name="TextBox 6"/>
          <p:cNvSpPr txBox="1"/>
          <p:nvPr/>
        </p:nvSpPr>
        <p:spPr>
          <a:xfrm>
            <a:off x="7635240" y="1920240"/>
            <a:ext cx="3794760" cy="4041648"/>
          </a:xfrm>
          <a:prstGeom prst="rect">
            <a:avLst/>
          </a:prstGeom>
          <a:noFill/>
        </p:spPr>
        <p:txBody>
          <a:bodyPr wrap="square">
            <a:spAutoFit/>
          </a:bodyPr>
          <a:lstStyle/>
          <a:p>
            <a:pPr>
              <a:spcAft>
                <a:spcPts val="700"/>
              </a:spcAft>
              <a:defRPr sz="1700" b="0">
                <a:solidFill>
                  <a:srgbClr val="2A3641"/>
                </a:solidFill>
                <a:latin typeface="Calibri"/>
              </a:defRPr>
            </a:pPr>
            <a:r>
              <a:t>At load 1.2, fixed routing loses 16.612% while queue-aware loss is about 0.0017%. At load 2.0, the proposed runs record no drops; at 3.5, its loss rises to 17.224%. The graph therefore supports congestion relief, not a zero-loss guarantee.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Throughput: route distribution explains the gain</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11</a:t>
            </a:r>
          </a:p>
        </p:txBody>
      </p:sp>
      <p:pic>
        <p:nvPicPr>
          <p:cNvPr id="5" name="Picture 4" descr="throughput.png"/>
          <p:cNvPicPr>
            <a:picLocks noChangeAspect="1"/>
          </p:cNvPicPr>
          <p:nvPr/>
        </p:nvPicPr>
        <p:blipFill>
          <a:blip r:embed="rId2"/>
          <a:stretch>
            <a:fillRect/>
          </a:stretch>
        </p:blipFill>
        <p:spPr>
          <a:xfrm>
            <a:off x="594360" y="1705356"/>
            <a:ext cx="6858000" cy="4114800"/>
          </a:xfrm>
          <a:prstGeom prst="rect">
            <a:avLst/>
          </a:prstGeom>
        </p:spPr>
      </p:pic>
      <p:sp>
        <p:nvSpPr>
          <p:cNvPr id="6" name="TextBox 5"/>
          <p:cNvSpPr txBox="1"/>
          <p:nvPr/>
        </p:nvSpPr>
        <p:spPr>
          <a:xfrm>
            <a:off x="7635240" y="1481328"/>
            <a:ext cx="3794760" cy="384048"/>
          </a:xfrm>
          <a:prstGeom prst="rect">
            <a:avLst/>
          </a:prstGeom>
          <a:noFill/>
        </p:spPr>
        <p:txBody>
          <a:bodyPr wrap="square">
            <a:spAutoFit/>
          </a:bodyPr>
          <a:lstStyle/>
          <a:p>
            <a:pPr>
              <a:spcAft>
                <a:spcPts val="700"/>
              </a:spcAft>
              <a:defRPr sz="1800" b="1">
                <a:solidFill>
                  <a:srgbClr val="0E7782"/>
                </a:solidFill>
                <a:latin typeface="Calibri"/>
              </a:defRPr>
            </a:pPr>
            <a:r>
              <a:t>What the measurement says</a:t>
            </a:r>
          </a:p>
        </p:txBody>
      </p:sp>
      <p:sp>
        <p:nvSpPr>
          <p:cNvPr id="7" name="TextBox 6"/>
          <p:cNvSpPr txBox="1"/>
          <p:nvPr/>
        </p:nvSpPr>
        <p:spPr>
          <a:xfrm>
            <a:off x="7635240" y="1920240"/>
            <a:ext cx="3794760" cy="4041648"/>
          </a:xfrm>
          <a:prstGeom prst="rect">
            <a:avLst/>
          </a:prstGeom>
          <a:noFill/>
        </p:spPr>
        <p:txBody>
          <a:bodyPr wrap="square">
            <a:spAutoFit/>
          </a:bodyPr>
          <a:lstStyle/>
          <a:p>
            <a:pPr>
              <a:spcAft>
                <a:spcPts val="700"/>
              </a:spcAft>
              <a:defRPr sz="1700" b="0">
                <a:solidFill>
                  <a:srgbClr val="2A3641"/>
                </a:solidFill>
                <a:latin typeface="Calibri"/>
              </a:defRPr>
            </a:pPr>
            <a:r>
              <a:t>At load 2.0, fixed routing delivers 0.999 packets/tick and queue-aware routing delivers 1.997. Route counts show roughly 3,340 upper, 3,330 middle and 3,330 lower assignments per run. The result comes from using spare parallel capacity.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Balanced-capacity check and honest trade-offs</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12</a:t>
            </a:r>
          </a:p>
        </p:txBody>
      </p:sp>
      <p:graphicFrame>
        <p:nvGraphicFramePr>
          <p:cNvPr id="5" name="Table 4"/>
          <p:cNvGraphicFramePr>
            <a:graphicFrameLocks noGrp="1"/>
          </p:cNvGraphicFramePr>
          <p:nvPr/>
        </p:nvGraphicFramePr>
        <p:xfrm>
          <a:off x="731520" y="1353312"/>
          <a:ext cx="6858000" cy="1737360"/>
        </p:xfrm>
        <a:graphic>
          <a:graphicData uri="http://schemas.openxmlformats.org/drawingml/2006/table">
            <a:tbl>
              <a:tblPr firstRow="1" bandRow="1">
                <a:tableStyleId>{5C22544A-7EE6-4342-B048-85BDC9FD1C3A}</a:tableStyleId>
              </a:tblPr>
              <a:tblGrid>
                <a:gridCol w="1714500"/>
                <a:gridCol w="1714500"/>
                <a:gridCol w="1714500"/>
                <a:gridCol w="1714500"/>
              </a:tblGrid>
              <a:tr h="579120">
                <a:tc>
                  <a:txBody>
                    <a:bodyPr/>
                    <a:lstStyle/>
                    <a:p>
                      <a:pPr>
                        <a:defRPr sz="1500" b="1">
                          <a:solidFill>
                            <a:srgbClr val="FFFFFF"/>
                          </a:solidFill>
                          <a:latin typeface="Calibri"/>
                        </a:defRPr>
                      </a:pPr>
                      <a:r>
                        <a:t>Load 3.5</a:t>
                      </a:r>
                    </a:p>
                  </a:txBody>
                  <a:tcPr marL="64008" marR="36576" marT="22860" marB="13716">
                    <a:solidFill>
                      <a:srgbClr val="132D45"/>
                    </a:solidFill>
                  </a:tcPr>
                </a:tc>
                <a:tc>
                  <a:txBody>
                    <a:bodyPr/>
                    <a:lstStyle/>
                    <a:p>
                      <a:pPr>
                        <a:defRPr sz="1500" b="1">
                          <a:solidFill>
                            <a:srgbClr val="FFFFFF"/>
                          </a:solidFill>
                          <a:latin typeface="Calibri"/>
                        </a:defRPr>
                      </a:pPr>
                      <a:r>
                        <a:t>Delay ticks</a:t>
                      </a:r>
                    </a:p>
                  </a:txBody>
                  <a:tcPr marL="64008" marR="36576" marT="22860" marB="13716">
                    <a:solidFill>
                      <a:srgbClr val="132D45"/>
                    </a:solidFill>
                  </a:tcPr>
                </a:tc>
                <a:tc>
                  <a:txBody>
                    <a:bodyPr/>
                    <a:lstStyle/>
                    <a:p>
                      <a:pPr>
                        <a:defRPr sz="1500" b="1">
                          <a:solidFill>
                            <a:srgbClr val="FFFFFF"/>
                          </a:solidFill>
                          <a:latin typeface="Calibri"/>
                        </a:defRPr>
                      </a:pPr>
                      <a:r>
                        <a:t>Loss</a:t>
                      </a:r>
                    </a:p>
                  </a:txBody>
                  <a:tcPr marL="64008" marR="36576" marT="22860" marB="13716">
                    <a:solidFill>
                      <a:srgbClr val="132D45"/>
                    </a:solidFill>
                  </a:tcPr>
                </a:tc>
                <a:tc>
                  <a:txBody>
                    <a:bodyPr/>
                    <a:lstStyle/>
                    <a:p>
                      <a:pPr>
                        <a:defRPr sz="1500" b="1">
                          <a:solidFill>
                            <a:srgbClr val="FFFFFF"/>
                          </a:solidFill>
                          <a:latin typeface="Calibri"/>
                        </a:defRPr>
                      </a:pPr>
                      <a:r>
                        <a:t>Throughput</a:t>
                      </a:r>
                    </a:p>
                  </a:txBody>
                  <a:tcPr marL="64008" marR="36576" marT="22860" marB="13716">
                    <a:solidFill>
                      <a:srgbClr val="132D45"/>
                    </a:solidFill>
                  </a:tcPr>
                </a:tc>
              </a:tr>
              <a:tr h="579120">
                <a:tc>
                  <a:txBody>
                    <a:bodyPr/>
                    <a:lstStyle/>
                    <a:p>
                      <a:pPr>
                        <a:defRPr sz="1500" b="0">
                          <a:solidFill>
                            <a:srgbClr val="2A3641"/>
                          </a:solidFill>
                          <a:latin typeface="Calibri"/>
                        </a:defRPr>
                      </a:pPr>
                      <a:r>
                        <a:t>Fixed</a:t>
                      </a:r>
                    </a:p>
                  </a:txBody>
                  <a:tcPr marL="64008" marR="36576" marT="22860" marB="13716">
                    <a:solidFill>
                      <a:srgbClr val="FFFFFF"/>
                    </a:solidFill>
                  </a:tcPr>
                </a:tc>
                <a:tc>
                  <a:txBody>
                    <a:bodyPr/>
                    <a:lstStyle/>
                    <a:p>
                      <a:pPr>
                        <a:defRPr sz="1500" b="0">
                          <a:solidFill>
                            <a:srgbClr val="2A3641"/>
                          </a:solidFill>
                          <a:latin typeface="Calibri"/>
                        </a:defRPr>
                      </a:pPr>
                      <a:r>
                        <a:t>6.999</a:t>
                      </a:r>
                    </a:p>
                  </a:txBody>
                  <a:tcPr marL="64008" marR="36576" marT="22860" marB="13716">
                    <a:solidFill>
                      <a:srgbClr val="FFFFFF"/>
                    </a:solidFill>
                  </a:tcPr>
                </a:tc>
                <a:tc>
                  <a:txBody>
                    <a:bodyPr/>
                    <a:lstStyle/>
                    <a:p>
                      <a:pPr>
                        <a:defRPr sz="1500" b="0">
                          <a:solidFill>
                            <a:srgbClr val="2A3641"/>
                          </a:solidFill>
                          <a:latin typeface="Calibri"/>
                        </a:defRPr>
                      </a:pPr>
                      <a:r>
                        <a:t>42.85%</a:t>
                      </a:r>
                    </a:p>
                  </a:txBody>
                  <a:tcPr marL="64008" marR="36576" marT="22860" marB="13716">
                    <a:solidFill>
                      <a:srgbClr val="FFFFFF"/>
                    </a:solidFill>
                  </a:tcPr>
                </a:tc>
                <a:tc>
                  <a:txBody>
                    <a:bodyPr/>
                    <a:lstStyle/>
                    <a:p>
                      <a:pPr>
                        <a:defRPr sz="1500" b="0">
                          <a:solidFill>
                            <a:srgbClr val="2A3641"/>
                          </a:solidFill>
                          <a:latin typeface="Calibri"/>
                        </a:defRPr>
                      </a:pPr>
                      <a:r>
                        <a:t>1.998</a:t>
                      </a:r>
                    </a:p>
                  </a:txBody>
                  <a:tcPr marL="64008" marR="36576" marT="22860" marB="13716">
                    <a:solidFill>
                      <a:srgbClr val="FFFFFF"/>
                    </a:solidFill>
                  </a:tcPr>
                </a:tc>
              </a:tr>
              <a:tr h="579120">
                <a:tc>
                  <a:txBody>
                    <a:bodyPr/>
                    <a:lstStyle/>
                    <a:p>
                      <a:pPr>
                        <a:defRPr sz="1500" b="0">
                          <a:solidFill>
                            <a:srgbClr val="2A3641"/>
                          </a:solidFill>
                          <a:latin typeface="Calibri"/>
                        </a:defRPr>
                      </a:pPr>
                      <a:r>
                        <a:t>Queue-aware</a:t>
                      </a:r>
                    </a:p>
                  </a:txBody>
                  <a:tcPr marL="64008" marR="36576" marT="22860" marB="13716">
                    <a:solidFill>
                      <a:srgbClr val="EEF6F7"/>
                    </a:solidFill>
                  </a:tcPr>
                </a:tc>
                <a:tc>
                  <a:txBody>
                    <a:bodyPr/>
                    <a:lstStyle/>
                    <a:p>
                      <a:pPr>
                        <a:defRPr sz="1500" b="0">
                          <a:solidFill>
                            <a:srgbClr val="2A3641"/>
                          </a:solidFill>
                          <a:latin typeface="Calibri"/>
                        </a:defRPr>
                      </a:pPr>
                      <a:r>
                        <a:t>7.180</a:t>
                      </a:r>
                    </a:p>
                  </a:txBody>
                  <a:tcPr marL="64008" marR="36576" marT="22860" marB="13716">
                    <a:solidFill>
                      <a:srgbClr val="EEF6F7"/>
                    </a:solidFill>
                  </a:tcPr>
                </a:tc>
                <a:tc>
                  <a:txBody>
                    <a:bodyPr/>
                    <a:lstStyle/>
                    <a:p>
                      <a:pPr>
                        <a:defRPr sz="1500" b="0">
                          <a:solidFill>
                            <a:srgbClr val="2A3641"/>
                          </a:solidFill>
                          <a:latin typeface="Calibri"/>
                        </a:defRPr>
                      </a:pPr>
                      <a:r>
                        <a:t>9.67%</a:t>
                      </a:r>
                    </a:p>
                  </a:txBody>
                  <a:tcPr marL="64008" marR="36576" marT="22860" marB="13716">
                    <a:solidFill>
                      <a:srgbClr val="EEF6F7"/>
                    </a:solidFill>
                  </a:tcPr>
                </a:tc>
                <a:tc>
                  <a:txBody>
                    <a:bodyPr/>
                    <a:lstStyle/>
                    <a:p>
                      <a:pPr>
                        <a:defRPr sz="1500" b="0">
                          <a:solidFill>
                            <a:srgbClr val="2A3641"/>
                          </a:solidFill>
                          <a:latin typeface="Calibri"/>
                        </a:defRPr>
                      </a:pPr>
                      <a:r>
                        <a:t>3.159</a:t>
                      </a:r>
                    </a:p>
                  </a:txBody>
                  <a:tcPr marL="64008" marR="36576" marT="22860" marB="13716">
                    <a:solidFill>
                      <a:srgbClr val="EEF6F7"/>
                    </a:solidFill>
                  </a:tcPr>
                </a:tc>
              </a:tr>
            </a:tbl>
          </a:graphicData>
        </a:graphic>
      </p:graphicFrame>
      <p:sp>
        <p:nvSpPr>
          <p:cNvPr id="6" name="TextBox 5"/>
          <p:cNvSpPr txBox="1"/>
          <p:nvPr/>
        </p:nvSpPr>
        <p:spPr>
          <a:xfrm>
            <a:off x="731520" y="3337560"/>
            <a:ext cx="5212080" cy="384048"/>
          </a:xfrm>
          <a:prstGeom prst="rect">
            <a:avLst/>
          </a:prstGeom>
          <a:noFill/>
        </p:spPr>
        <p:txBody>
          <a:bodyPr wrap="square">
            <a:spAutoFit/>
          </a:bodyPr>
          <a:lstStyle/>
          <a:p>
            <a:pPr>
              <a:spcAft>
                <a:spcPts val="700"/>
              </a:spcAft>
              <a:defRPr sz="1800" b="1">
                <a:solidFill>
                  <a:srgbClr val="0E7782"/>
                </a:solidFill>
                <a:latin typeface="Calibri"/>
              </a:defRPr>
            </a:pPr>
            <a:r>
              <a:t>What changed</a:t>
            </a:r>
          </a:p>
        </p:txBody>
      </p:sp>
      <p:sp>
        <p:nvSpPr>
          <p:cNvPr id="7" name="TextBox 6"/>
          <p:cNvSpPr txBox="1"/>
          <p:nvPr/>
        </p:nvSpPr>
        <p:spPr>
          <a:xfrm>
            <a:off x="731520" y="3776472"/>
            <a:ext cx="5212080" cy="1847088"/>
          </a:xfrm>
          <a:prstGeom prst="rect">
            <a:avLst/>
          </a:prstGeom>
          <a:noFill/>
        </p:spPr>
        <p:txBody>
          <a:bodyPr wrap="square">
            <a:spAutoFit/>
          </a:bodyPr>
          <a:lstStyle/>
          <a:p>
            <a:pPr>
              <a:spcAft>
                <a:spcPts val="700"/>
              </a:spcAft>
              <a:defRPr sz="1700" b="0">
                <a:solidFill>
                  <a:srgbClr val="2A3641"/>
                </a:solidFill>
                <a:latin typeface="Calibri"/>
              </a:defRPr>
            </a:pPr>
            <a:r>
              <a:t>Upper-corridor capacity alone rose from 1 to 2 packets/tick. At light and moderate loads both methods match because the fixed shortest route is not congested. At 3.5, queue-aware throughput is higher and loss lower.</a:t>
            </a:r>
          </a:p>
        </p:txBody>
      </p:sp>
      <p:sp>
        <p:nvSpPr>
          <p:cNvPr id="8" name="TextBox 7"/>
          <p:cNvSpPr txBox="1"/>
          <p:nvPr/>
        </p:nvSpPr>
        <p:spPr>
          <a:xfrm>
            <a:off x="6217920" y="3337560"/>
            <a:ext cx="5074920" cy="384048"/>
          </a:xfrm>
          <a:prstGeom prst="rect">
            <a:avLst/>
          </a:prstGeom>
          <a:noFill/>
        </p:spPr>
        <p:txBody>
          <a:bodyPr wrap="square">
            <a:spAutoFit/>
          </a:bodyPr>
          <a:lstStyle/>
          <a:p>
            <a:pPr>
              <a:spcAft>
                <a:spcPts val="700"/>
              </a:spcAft>
              <a:defRPr sz="1800" b="1">
                <a:solidFill>
                  <a:srgbClr val="0E7782"/>
                </a:solidFill>
                <a:latin typeface="Calibri"/>
              </a:defRPr>
            </a:pPr>
            <a:r>
              <a:t>What did not improve</a:t>
            </a:r>
          </a:p>
        </p:txBody>
      </p:sp>
      <p:sp>
        <p:nvSpPr>
          <p:cNvPr id="9" name="TextBox 8"/>
          <p:cNvSpPr txBox="1"/>
          <p:nvPr/>
        </p:nvSpPr>
        <p:spPr>
          <a:xfrm>
            <a:off x="6217920" y="3776472"/>
            <a:ext cx="5074920" cy="1847088"/>
          </a:xfrm>
          <a:prstGeom prst="rect">
            <a:avLst/>
          </a:prstGeom>
          <a:noFill/>
        </p:spPr>
        <p:txBody>
          <a:bodyPr wrap="square">
            <a:spAutoFit/>
          </a:bodyPr>
          <a:lstStyle/>
          <a:p>
            <a:pPr>
              <a:spcAft>
                <a:spcPts val="700"/>
              </a:spcAft>
              <a:defRPr sz="1700" b="0">
                <a:solidFill>
                  <a:srgbClr val="2A3641"/>
                </a:solidFill>
                <a:latin typeface="Calibri"/>
              </a:defRPr>
            </a:pPr>
            <a:r>
              <a:t>In the balanced scenario at 3.5, mean delay of delivered packets is higher for queue-aware routing. More packets take longer paths and arrive, while the fixed method drops many. Route updates and queue-state communication would also add real overhead not modeled here.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47472"/>
            <a:ext cx="10972800" cy="594360"/>
          </a:xfrm>
          <a:prstGeom prst="rect">
            <a:avLst/>
          </a:prstGeom>
          <a:noFill/>
        </p:spPr>
        <p:txBody>
          <a:bodyPr wrap="square">
            <a:spAutoFit/>
          </a:bodyPr>
          <a:lstStyle/>
          <a:p>
            <a:pPr>
              <a:spcAft>
                <a:spcPts val="700"/>
              </a:spcAft>
              <a:defRPr sz="2900" b="1">
                <a:solidFill>
                  <a:srgbClr val="132D45"/>
                </a:solidFill>
                <a:latin typeface="Calibri"/>
              </a:defRPr>
            </a:pPr>
            <a:r>
              <a:t>Conclusion and review demonstration</a:t>
            </a:r>
          </a:p>
        </p:txBody>
      </p:sp>
      <p:sp>
        <p:nvSpPr>
          <p:cNvPr id="4" name="TextBox 3"/>
          <p:cNvSpPr txBox="1"/>
          <p:nvPr/>
        </p:nvSpPr>
        <p:spPr>
          <a:xfrm>
            <a:off x="603504" y="6473952"/>
            <a:ext cx="10789920" cy="201168"/>
          </a:xfrm>
          <a:prstGeom prst="rect">
            <a:avLst/>
          </a:prstGeom>
          <a:noFill/>
        </p:spPr>
        <p:txBody>
          <a:bodyPr wrap="square">
            <a:spAutoFit/>
          </a:bodyPr>
          <a:lstStyle/>
          <a:p>
            <a:pPr>
              <a:spcAft>
                <a:spcPts val="700"/>
              </a:spcAft>
              <a:defRPr sz="1000" b="0">
                <a:solidFill>
                  <a:srgbClr val="0E7782"/>
                </a:solidFill>
                <a:latin typeface="Calibri"/>
              </a:defRPr>
            </a:pPr>
            <a:r>
              <a:t>BCSE308P Computer Networks Lab                                      13</a:t>
            </a:r>
          </a:p>
        </p:txBody>
      </p:sp>
      <p:sp>
        <p:nvSpPr>
          <p:cNvPr id="5" name="TextBox 4"/>
          <p:cNvSpPr txBox="1"/>
          <p:nvPr/>
        </p:nvSpPr>
        <p:spPr>
          <a:xfrm>
            <a:off x="667512" y="1234440"/>
            <a:ext cx="5303520" cy="384048"/>
          </a:xfrm>
          <a:prstGeom prst="rect">
            <a:avLst/>
          </a:prstGeom>
          <a:noFill/>
        </p:spPr>
        <p:txBody>
          <a:bodyPr wrap="square">
            <a:spAutoFit/>
          </a:bodyPr>
          <a:lstStyle/>
          <a:p>
            <a:pPr>
              <a:spcAft>
                <a:spcPts val="700"/>
              </a:spcAft>
              <a:defRPr sz="1800" b="1">
                <a:solidFill>
                  <a:srgbClr val="0E7782"/>
                </a:solidFill>
                <a:latin typeface="Calibri"/>
              </a:defRPr>
            </a:pPr>
            <a:r>
              <a:t>Conclusion</a:t>
            </a:r>
          </a:p>
        </p:txBody>
      </p:sp>
      <p:sp>
        <p:nvSpPr>
          <p:cNvPr id="6" name="TextBox 5"/>
          <p:cNvSpPr txBox="1"/>
          <p:nvPr/>
        </p:nvSpPr>
        <p:spPr>
          <a:xfrm>
            <a:off x="667512" y="1673352"/>
            <a:ext cx="5303520" cy="4087368"/>
          </a:xfrm>
          <a:prstGeom prst="rect">
            <a:avLst/>
          </a:prstGeom>
          <a:noFill/>
        </p:spPr>
        <p:txBody>
          <a:bodyPr wrap="square">
            <a:spAutoFit/>
          </a:bodyPr>
          <a:lstStyle/>
          <a:p>
            <a:pPr>
              <a:spcAft>
                <a:spcPts val="700"/>
              </a:spcAft>
              <a:defRPr sz="1700" b="0">
                <a:solidFill>
                  <a:srgbClr val="2A3641"/>
                </a:solidFill>
                <a:latin typeface="Calibri"/>
              </a:defRPr>
            </a:pPr>
            <a:r>
              <a:t>The queue penalty makes Dijkstra react to waiting traffic and use three corridors after the fixed shortest path becomes a bottleneck. The gain is measured, paired by seed, checked by route counts, and bounded by high-load loss and the balanced-scenario delay trade-off. The seven cross-path possibilities were not selected in these runs.</a:t>
            </a:r>
          </a:p>
        </p:txBody>
      </p:sp>
      <p:sp>
        <p:nvSpPr>
          <p:cNvPr id="7" name="TextBox 6"/>
          <p:cNvSpPr txBox="1"/>
          <p:nvPr/>
        </p:nvSpPr>
        <p:spPr>
          <a:xfrm>
            <a:off x="6163056" y="1234440"/>
            <a:ext cx="5303520" cy="384048"/>
          </a:xfrm>
          <a:prstGeom prst="rect">
            <a:avLst/>
          </a:prstGeom>
          <a:noFill/>
        </p:spPr>
        <p:txBody>
          <a:bodyPr wrap="square">
            <a:spAutoFit/>
          </a:bodyPr>
          <a:lstStyle/>
          <a:p>
            <a:pPr>
              <a:spcAft>
                <a:spcPts val="700"/>
              </a:spcAft>
              <a:defRPr sz="1800" b="1">
                <a:solidFill>
                  <a:srgbClr val="0E7782"/>
                </a:solidFill>
                <a:latin typeface="Calibri"/>
              </a:defRPr>
            </a:pPr>
            <a:r>
              <a:t>Show the reviewer</a:t>
            </a:r>
          </a:p>
        </p:txBody>
      </p:sp>
      <p:sp>
        <p:nvSpPr>
          <p:cNvPr id="8" name="TextBox 7"/>
          <p:cNvSpPr txBox="1"/>
          <p:nvPr/>
        </p:nvSpPr>
        <p:spPr>
          <a:xfrm>
            <a:off x="6163056" y="1673352"/>
            <a:ext cx="5303520" cy="4087368"/>
          </a:xfrm>
          <a:prstGeom prst="rect">
            <a:avLst/>
          </a:prstGeom>
          <a:noFill/>
        </p:spPr>
        <p:txBody>
          <a:bodyPr wrap="square">
            <a:spAutoFit/>
          </a:bodyPr>
          <a:lstStyle/>
          <a:p>
            <a:pPr>
              <a:spcAft>
                <a:spcPts val="700"/>
              </a:spcAft>
              <a:defRPr sz="1700" b="0">
                <a:solidFill>
                  <a:srgbClr val="2A3641"/>
                </a:solidFill>
                <a:latin typeface="Calibri"/>
              </a:defRPr>
            </a:pPr>
            <a:r>
              <a:t>Open the topology, exact link table and seven-route table; then show delay, loss and throughput graphs. Run the command in README.md and open ten_node_final/summary.csv. The actual cmd.exe text log is saved; a literal Command Prompt screenshot must be captured from the visible window.</a:t>
            </a:r>
          </a:p>
        </p:txBody>
      </p:sp>
      <p:sp>
        <p:nvSpPr>
          <p:cNvPr id="9" name="TextBox 8"/>
          <p:cNvSpPr txBox="1"/>
          <p:nvPr/>
        </p:nvSpPr>
        <p:spPr>
          <a:xfrm>
            <a:off x="704088" y="5806440"/>
            <a:ext cx="10789920" cy="457200"/>
          </a:xfrm>
          <a:prstGeom prst="rect">
            <a:avLst/>
          </a:prstGeom>
          <a:noFill/>
        </p:spPr>
        <p:txBody>
          <a:bodyPr wrap="square">
            <a:spAutoFit/>
          </a:bodyPr>
          <a:lstStyle/>
          <a:p>
            <a:pPr>
              <a:spcAft>
                <a:spcPts val="700"/>
              </a:spcAft>
              <a:defRPr sz="1200" b="0">
                <a:solidFill>
                  <a:srgbClr val="2A3641"/>
                </a:solidFill>
                <a:latin typeface="Calibri"/>
              </a:defRPr>
            </a:pPr>
            <a:r>
              <a:t>References: Dijkstra (1959); Moy, RFC 2328 (1998); Shen, Ren &amp; Liu (2016); Bhorkar, Javidi &amp; Snoeren (2012).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